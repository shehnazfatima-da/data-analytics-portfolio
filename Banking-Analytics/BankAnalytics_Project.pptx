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69" r:id="rId3"/>
    <p:sldId id="270" r:id="rId4"/>
    <p:sldId id="288" r:id="rId5"/>
    <p:sldId id="290" r:id="rId6"/>
    <p:sldId id="289" r:id="rId7"/>
    <p:sldId id="271" r:id="rId8"/>
    <p:sldId id="283" r:id="rId9"/>
    <p:sldId id="284" r:id="rId10"/>
    <p:sldId id="285" r:id="rId11"/>
    <p:sldId id="287" r:id="rId12"/>
    <p:sldId id="286" r:id="rId13"/>
    <p:sldId id="28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86434" autoAdjust="0"/>
  </p:normalViewPr>
  <p:slideViewPr>
    <p:cSldViewPr snapToGrid="0">
      <p:cViewPr varScale="1">
        <p:scale>
          <a:sx n="64" d="100"/>
          <a:sy n="64" d="100"/>
        </p:scale>
        <p:origin x="1616" y="48"/>
      </p:cViewPr>
      <p:guideLst/>
    </p:cSldViewPr>
  </p:slideViewPr>
  <p:outlineViewPr>
    <p:cViewPr>
      <p:scale>
        <a:sx n="33" d="100"/>
        <a:sy n="33" d="100"/>
      </p:scale>
      <p:origin x="0" y="-10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4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7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6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3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96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3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4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1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8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0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6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52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77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285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747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133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32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4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A994-0CA5-CD09-B1EF-5F6137435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833" y="1507048"/>
            <a:ext cx="5438322" cy="2120733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Loan Performance &amp; Risk Analysis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53EF9-62FE-540B-7387-982A5C3D2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234" y="534879"/>
            <a:ext cx="1879628" cy="1171458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3AF82FD-0C49-7248-6E58-9D056C140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252" y="5039139"/>
            <a:ext cx="2087159" cy="12901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resented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cap="none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cap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hehnaz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atima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roup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b="1" cap="none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8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60370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loan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high-risk customers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repayment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lending decisions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2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60370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→ KPI &amp; Dashboard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→ Data extraction &amp; transformation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→ Interactive visualization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→ Advanced analytics </a:t>
            </a:r>
          </a:p>
        </p:txBody>
      </p:sp>
    </p:spTree>
    <p:extLst>
      <p:ext uri="{BB962C8B-B14F-4D97-AF65-F5344CB8AC3E}">
        <p14:creationId xmlns:p14="http://schemas.microsoft.com/office/powerpoint/2010/main" val="154766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4C50B-1009-A77B-07B3-A4205824F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9" y="2140263"/>
            <a:ext cx="8515921" cy="454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F7274-7ED2-D646-D68B-2D363ED4D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00" y="2196548"/>
            <a:ext cx="8748000" cy="44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2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EFE09-231D-615C-68BD-B73EE52F3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03" y="2117036"/>
            <a:ext cx="8712000" cy="464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0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05" y="717630"/>
            <a:ext cx="7263095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1: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Loan Amount Stats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199390"/>
            <a:ext cx="7740000" cy="367889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growth (2007–2011)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 rise in later years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loan demand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 growth with risk checks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in high-demand segments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growth with credit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7C9F6-F8E0-68A9-F253-F7ACA802E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451" y="2214805"/>
            <a:ext cx="3953427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3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49" y="717630"/>
            <a:ext cx="7626786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2: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Grade &amp; Sub-grade wise Revolving Balance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51513"/>
            <a:ext cx="7740000" cy="378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&amp; B grades → higher balance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grades → higher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risk segmentation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low-risk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Tight approval for risky grades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risk-based pricing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439E0-A78E-9731-AD90-943504C5A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15" y="2251513"/>
            <a:ext cx="4898567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6" y="717630"/>
            <a:ext cx="782556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Payment: Verified vs Non-Verified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27312"/>
            <a:ext cx="7740000" cy="37598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→ higher payments (~59%)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Non-verified → lower contribution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link: verification &amp; repayment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verification process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 verification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exposure to non-verified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8D778-145A-808B-DF78-9D514BEE5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194" y="2227311"/>
            <a:ext cx="4018864" cy="26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1" y="717630"/>
            <a:ext cx="761684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4: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State-wise &amp; Month-wise Loan Status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25896"/>
            <a:ext cx="7740000" cy="3695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CA, NY → high loan activity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variation present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performance differs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high-performing states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risky regions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seasonal strategies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83C3D-83FC-CA7C-8903-0E5437D93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57" y="2225896"/>
            <a:ext cx="4832025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4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5: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Home Ownership vs Last Payment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095739"/>
            <a:ext cx="7740000" cy="445793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Mortgage → highest payments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around 2012–2013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Rent → moderate &amp; stable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Own/Other → lower contribution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Decline after 2013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mortgage segment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renters with control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declining trends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ownership in credit checks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retention strategies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C1556-A326-E8CA-EE03-B4BD9D22C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609" y="2225896"/>
            <a:ext cx="4618523" cy="311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30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is growing steadily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risk segmentation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customers are more reliable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states &amp; seasonal trends identified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stability improves repayment </a:t>
            </a:r>
          </a:p>
        </p:txBody>
      </p:sp>
    </p:spTree>
    <p:extLst>
      <p:ext uri="{BB962C8B-B14F-4D97-AF65-F5344CB8AC3E}">
        <p14:creationId xmlns:p14="http://schemas.microsoft.com/office/powerpoint/2010/main" val="94671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6DC8-A069-0C2D-BF0E-4D34D7C1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56" y="2955852"/>
            <a:ext cx="7822418" cy="118021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05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4852</TotalTime>
  <Words>291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Times New Roman</vt:lpstr>
      <vt:lpstr>Wingdings</vt:lpstr>
      <vt:lpstr>Wingdings 3</vt:lpstr>
      <vt:lpstr>Ion Boardroom</vt:lpstr>
      <vt:lpstr>Financial Loan Performance &amp; Risk Analysis</vt:lpstr>
      <vt:lpstr>Objective</vt:lpstr>
      <vt:lpstr>Tools Used</vt:lpstr>
      <vt:lpstr>Excel Dashboard</vt:lpstr>
      <vt:lpstr>Tableau Dashboard</vt:lpstr>
      <vt:lpstr>Power BI Dashboard</vt:lpstr>
      <vt:lpstr>KPI 1: Year-wise Loan Amount Stats</vt:lpstr>
      <vt:lpstr>KPI 2: Grade &amp; Sub-grade wise Revolving Balance</vt:lpstr>
      <vt:lpstr>KPI 3: Total Payment: Verified vs Non-Verified</vt:lpstr>
      <vt:lpstr>KPI 4: State-wise &amp; Month-wise Loan Status</vt:lpstr>
      <vt:lpstr>KPI 5: Home Ownership vs Last Payment</vt:lpstr>
      <vt:lpstr>Key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Functions &amp; Window Functions</dc:title>
  <dc:creator>shehnaznikki7@gmail.com</dc:creator>
  <cp:lastModifiedBy>shehnaznikki7@gmail.com</cp:lastModifiedBy>
  <cp:revision>59</cp:revision>
  <dcterms:created xsi:type="dcterms:W3CDTF">2026-01-11T09:39:21Z</dcterms:created>
  <dcterms:modified xsi:type="dcterms:W3CDTF">2026-08-05T15:34:52Z</dcterms:modified>
</cp:coreProperties>
</file>