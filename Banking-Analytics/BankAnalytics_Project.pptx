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9" r:id="rId1"/>
  </p:sldMasterIdLst>
  <p:sldIdLst>
    <p:sldId id="256" r:id="rId2"/>
    <p:sldId id="269" r:id="rId3"/>
    <p:sldId id="270" r:id="rId4"/>
    <p:sldId id="288" r:id="rId5"/>
    <p:sldId id="290" r:id="rId6"/>
    <p:sldId id="289" r:id="rId7"/>
    <p:sldId id="271" r:id="rId8"/>
    <p:sldId id="283" r:id="rId9"/>
    <p:sldId id="284" r:id="rId10"/>
    <p:sldId id="285" r:id="rId11"/>
    <p:sldId id="287" r:id="rId12"/>
    <p:sldId id="286" r:id="rId13"/>
    <p:sldId id="28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12" autoAdjust="0"/>
    <p:restoredTop sz="86434" autoAdjust="0"/>
  </p:normalViewPr>
  <p:slideViewPr>
    <p:cSldViewPr snapToGrid="0">
      <p:cViewPr varScale="1">
        <p:scale>
          <a:sx n="64" d="100"/>
          <a:sy n="64" d="100"/>
        </p:scale>
        <p:origin x="1616" y="48"/>
      </p:cViewPr>
      <p:guideLst/>
    </p:cSldViewPr>
  </p:slideViewPr>
  <p:outlineViewPr>
    <p:cViewPr>
      <p:scale>
        <a:sx n="33" d="100"/>
        <a:sy n="33" d="100"/>
      </p:scale>
      <p:origin x="0" y="-1082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2226503"/>
            <a:ext cx="5917679" cy="255087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0" y="4777380"/>
            <a:ext cx="5917679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498080" y="1828800"/>
            <a:ext cx="990599" cy="22865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236208" y="3264408"/>
            <a:ext cx="3859795" cy="228660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5545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927098"/>
            <a:ext cx="6343672" cy="70986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2376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7534" y="2257588"/>
            <a:ext cx="3090672" cy="3020344"/>
          </a:xfrm>
        </p:spPr>
        <p:txBody>
          <a:bodyPr anchor="ctr"/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9261" y="2257588"/>
            <a:ext cx="3082516" cy="302034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267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440" y="2489200"/>
            <a:ext cx="3636980" cy="35306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1" y="2489203"/>
            <a:ext cx="3636980" cy="3530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235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918" y="2489200"/>
            <a:ext cx="3633502" cy="75929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440" y="3248490"/>
            <a:ext cx="3636980" cy="277131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81" y="2489200"/>
            <a:ext cx="3636979" cy="75663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81" y="3245835"/>
            <a:ext cx="3636980" cy="27739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19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2336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09444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447800"/>
            <a:ext cx="2712590" cy="1495588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8927" y="1447800"/>
            <a:ext cx="3632850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1" y="3086845"/>
            <a:ext cx="2712589" cy="2933701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9010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381390"/>
            <a:ext cx="2987089" cy="157480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22909" y="1320800"/>
            <a:ext cx="2791102" cy="421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086100"/>
            <a:ext cx="2987089" cy="24511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184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4961454"/>
            <a:ext cx="642200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1" y="685800"/>
            <a:ext cx="6422004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0" y="5528192"/>
            <a:ext cx="6422004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9504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2005" cy="16927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488023"/>
            <a:ext cx="6422005" cy="2536857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9960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3" name="TextBox 22"/>
          <p:cNvSpPr txBox="1"/>
          <p:nvPr/>
        </p:nvSpPr>
        <p:spPr bwMode="gray">
          <a:xfrm>
            <a:off x="647430" y="651690"/>
            <a:ext cx="6015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7069418" y="2900292"/>
            <a:ext cx="6190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060" y="927099"/>
            <a:ext cx="6160385" cy="2882179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387278" y="3809278"/>
            <a:ext cx="5646143" cy="333113"/>
          </a:xfrm>
        </p:spPr>
        <p:txBody>
          <a:bodyPr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5000816"/>
            <a:ext cx="6343673" cy="101061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55247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2057400"/>
            <a:ext cx="6422005" cy="20955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1" y="5024908"/>
            <a:ext cx="6422004" cy="994891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00772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3593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2489200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440" y="3147164"/>
            <a:ext cx="2313432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05614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08471" y="3147164"/>
            <a:ext cx="2318918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60935" y="3147164"/>
            <a:ext cx="2316625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294530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12855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345260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4179596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9055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439" y="4837558"/>
            <a:ext cx="2313432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11125" y="4179595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53189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11125" y="484820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4179596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08641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58642" y="483755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290019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7477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1301" y="6387910"/>
            <a:ext cx="990599" cy="228659"/>
          </a:xfrm>
        </p:spPr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6133" y="6387910"/>
            <a:ext cx="3859795" cy="22866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41331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20420" cy="6860798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</p:grpSp>
      <p:sp>
        <p:nvSpPr>
          <p:cNvPr id="17" name="Rectangle 16"/>
          <p:cNvSpPr/>
          <p:nvPr/>
        </p:nvSpPr>
        <p:spPr>
          <a:xfrm>
            <a:off x="414867" y="402165"/>
            <a:ext cx="4610565" cy="605367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 bwMode="gray">
          <a:xfrm rot="5400000">
            <a:off x="1299309" y="1765596"/>
            <a:ext cx="5995993" cy="3326809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9144000" cy="6858000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74928" y="1447799"/>
            <a:ext cx="1113516" cy="4572001"/>
          </a:xfrm>
        </p:spPr>
        <p:txBody>
          <a:bodyPr vert="eaVert" anchor="ctr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738" y="1447799"/>
            <a:ext cx="4416936" cy="45720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546" y="6365498"/>
            <a:ext cx="3859795" cy="228660"/>
          </a:xfrm>
        </p:spPr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4324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440" y="927099"/>
            <a:ext cx="6345260" cy="7098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382" y="2489200"/>
            <a:ext cx="6345260" cy="353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74443" y="6365498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 b="1" i="0">
                <a:solidFill>
                  <a:schemeClr val="accent1"/>
                </a:solidFill>
              </a:defRPr>
            </a:lvl1pPr>
          </a:lstStyle>
          <a:p>
            <a:fld id="{6694ABA1-9609-4CD0-903D-13ABCC53DD8A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0843" y="6365497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 b="1" i="0">
                <a:solidFill>
                  <a:schemeClr val="accent1"/>
                </a:solidFill>
              </a:defRPr>
            </a:lvl1pPr>
          </a:lstStyle>
          <a:p>
            <a:endParaRPr lang="en-IN"/>
          </a:p>
        </p:txBody>
      </p:sp>
      <p:sp>
        <p:nvSpPr>
          <p:cNvPr id="26" name="Rectangle 25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>
                <a:solidFill>
                  <a:schemeClr val="bg1"/>
                </a:solidFill>
              </a:defRPr>
            </a:lvl1pPr>
          </a:lstStyle>
          <a:p>
            <a:fld id="{FCF62034-7AE4-4233-BFAF-66CAE2BD6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440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  <p:sldLayoutId id="2147483941" r:id="rId12"/>
    <p:sldLayoutId id="2147483942" r:id="rId13"/>
    <p:sldLayoutId id="2147483943" r:id="rId14"/>
    <p:sldLayoutId id="2147483944" r:id="rId15"/>
    <p:sldLayoutId id="2147483945" r:id="rId16"/>
    <p:sldLayoutId id="2147483946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83464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6012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3444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0876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0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5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6A994-0CA5-CD09-B1EF-5F6137435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0833" y="1507048"/>
            <a:ext cx="5438322" cy="2120733"/>
          </a:xfrm>
        </p:spPr>
        <p:txBody>
          <a:bodyPr>
            <a:noAutofit/>
          </a:bodyPr>
          <a:lstStyle/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Loan Performance &amp; Risk Analysis</a:t>
            </a:r>
            <a:endParaRPr lang="en-IN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E53EF9-62FE-540B-7387-982A5C3D23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7234" y="534879"/>
            <a:ext cx="1879628" cy="1171458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3AF82FD-0C49-7248-6E58-9D056C140D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0252" y="5347248"/>
            <a:ext cx="2087159" cy="93600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b="1" cap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resented</a:t>
            </a: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</a:t>
            </a:r>
            <a:r>
              <a:rPr lang="en-US" b="1" cap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b="1" cap="none" dirty="0">
              <a:solidFill>
                <a:schemeClr val="accent5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b="1" dirty="0" err="1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b="1" cap="none" dirty="0" err="1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hehnaz</a:t>
            </a:r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</a:t>
            </a:r>
            <a:r>
              <a:rPr lang="en-US" b="1" cap="none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atima</a:t>
            </a:r>
          </a:p>
        </p:txBody>
      </p:sp>
    </p:spTree>
    <p:extLst>
      <p:ext uri="{BB962C8B-B14F-4D97-AF65-F5344CB8AC3E}">
        <p14:creationId xmlns:p14="http://schemas.microsoft.com/office/powerpoint/2010/main" val="1359588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C2C-1CBA-16CE-B45F-4BF400C0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062" y="717630"/>
            <a:ext cx="7219507" cy="111117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6605469-AF9A-195E-783C-F62B66DA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000" y="2360370"/>
            <a:ext cx="7740000" cy="37800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Analyze loan performance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Identify high-risk customers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 repayment trends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 data-driven lending decisions</a:t>
            </a:r>
          </a:p>
          <a:p>
            <a:pPr>
              <a:buFont typeface="Wingdings" panose="05000000000000000000" pitchFamily="2" charset="2"/>
              <a:buChar char="q"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125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C2C-1CBA-16CE-B45F-4BF400C0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8383" y="717630"/>
            <a:ext cx="6917063" cy="111117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6605469-AF9A-195E-783C-F62B66DA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000" y="2360370"/>
            <a:ext cx="7740000" cy="37800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Excel → KPI &amp; Dashboard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 → Data extraction &amp; transformation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BI → Interactive visualization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Tableau → Advanced analytics </a:t>
            </a:r>
          </a:p>
        </p:txBody>
      </p:sp>
    </p:spTree>
    <p:extLst>
      <p:ext uri="{BB962C8B-B14F-4D97-AF65-F5344CB8AC3E}">
        <p14:creationId xmlns:p14="http://schemas.microsoft.com/office/powerpoint/2010/main" val="1547668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C2C-1CBA-16CE-B45F-4BF400C0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8383" y="717630"/>
            <a:ext cx="6917063" cy="111117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 Dashboard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24C50B-1009-A77B-07B3-A4205824F6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39" y="2140263"/>
            <a:ext cx="8515921" cy="454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677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C2C-1CBA-16CE-B45F-4BF400C0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8383" y="717630"/>
            <a:ext cx="6917063" cy="111117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Tableau Dashboard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2F7274-7ED2-D646-D68B-2D363ED4D8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000" y="2196548"/>
            <a:ext cx="8748000" cy="4476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228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C2C-1CBA-16CE-B45F-4BF400C0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8383" y="717630"/>
            <a:ext cx="6917063" cy="111117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 Dashboard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1EFE09-231D-615C-68BD-B73EE52F32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303" y="2117036"/>
            <a:ext cx="8712000" cy="464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609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C2C-1CBA-16CE-B45F-4BF400C0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305" y="717630"/>
            <a:ext cx="7263095" cy="111117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 1: 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Year-wise Loan Amount Stats</a:t>
            </a:r>
            <a:endParaRPr lang="en-IN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6605469-AF9A-195E-783C-F62B66DA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000" y="2199390"/>
            <a:ext cx="7740000" cy="3678898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Observation: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Continuous growth (2007–2011)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Sharp rise in later years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Increasing loan demand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Suggestion: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Sustain growth with risk checks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Expand in high-demand segments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Balance growth with credit control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47C9F6-F8E0-68A9-F253-F7ACA802E5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451" y="2214805"/>
            <a:ext cx="3953427" cy="2448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631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C2C-1CBA-16CE-B45F-4BF400C0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649" y="717630"/>
            <a:ext cx="7626786" cy="111117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 2: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Grade &amp; Sub-grade wise Revolving Balance</a:t>
            </a:r>
            <a:endParaRPr lang="en-IN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6605469-AF9A-195E-783C-F62B66DA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000" y="2251513"/>
            <a:ext cx="7740000" cy="37800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Observation: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&amp; B grades → higher balance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Lower grades → higher risk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Clear risk segmentation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Suggestion: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Focus on low-risk customers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Tight approval for risky grades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Apply risk-based pricing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3439E0-A78E-9731-AD90-943504C5A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815" y="2251513"/>
            <a:ext cx="4898567" cy="248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86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C2C-1CBA-16CE-B45F-4BF400C0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6" y="717630"/>
            <a:ext cx="7825567" cy="111117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 3: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Total Payment: Verified vs Non-Verified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6605469-AF9A-195E-783C-F62B66DA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000" y="2227312"/>
            <a:ext cx="7740000" cy="375983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Observation: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Verified → higher payments (~59%)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Non-verified → lower contribution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 link: verification &amp; repayment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Suggestion: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Strengthen verification process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Encourage customer verification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 exposure to non-verified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8D778-145A-808B-DF78-9D514BEE50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9194" y="2227311"/>
            <a:ext cx="4018864" cy="266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198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C2C-1CBA-16CE-B45F-4BF400C0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831" y="717630"/>
            <a:ext cx="7616847" cy="111117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 4: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State-wise &amp; Month-wise Loan Status</a:t>
            </a:r>
            <a:endParaRPr lang="en-IN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6605469-AF9A-195E-783C-F62B66DA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000" y="2225896"/>
            <a:ext cx="7740000" cy="3695936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Observation: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CA, NY → high loan activity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Monthly variation present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Regional performance differs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Suggestion: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high-performing states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Monitor risky regions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Plan seasonal strategies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083C3D-83FC-CA7C-8903-0E5437D93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657" y="2225896"/>
            <a:ext cx="4832025" cy="297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47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C2C-1CBA-16CE-B45F-4BF400C0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062" y="717630"/>
            <a:ext cx="7219507" cy="111117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 5: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Home Ownership vs Last Payment</a:t>
            </a:r>
            <a:endParaRPr lang="en-IN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6605469-AF9A-195E-783C-F62B66DA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000" y="2095739"/>
            <a:ext cx="7740000" cy="4457933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Observation: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Mortgage → highest payments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Peak around 2012–2013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Rent → moderate &amp; stable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Own/Other → lower contribution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Decline after 2013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Suggestion: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Focus on mortgage segment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renters with control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Monitor declining trends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ownership in credit checks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 retention strategies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2C1556-A326-E8CA-EE03-B4BD9D22C8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2609" y="2225896"/>
            <a:ext cx="4618523" cy="311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730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C2C-1CBA-16CE-B45F-4BF400C0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062" y="717630"/>
            <a:ext cx="7219507" cy="111117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6605469-AF9A-195E-783C-F62B66DA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000" y="2355571"/>
            <a:ext cx="7740000" cy="326003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Business is growing steadily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Balanced risk segmentation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Verified customers are more reliable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states &amp; seasonal trends identified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Financial stability improves repayment </a:t>
            </a:r>
          </a:p>
        </p:txBody>
      </p:sp>
    </p:spTree>
    <p:extLst>
      <p:ext uri="{BB962C8B-B14F-4D97-AF65-F5344CB8AC3E}">
        <p14:creationId xmlns:p14="http://schemas.microsoft.com/office/powerpoint/2010/main" val="946716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B6DC8-A069-0C2D-BF0E-4D34D7C1E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156" y="2955852"/>
            <a:ext cx="7822418" cy="118021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8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IN" sz="8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0535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4852</TotalTime>
  <Words>289</Words>
  <Application>Microsoft Office PowerPoint</Application>
  <PresentationFormat>On-screen Show (4:3)</PresentationFormat>
  <Paragraphs>72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Century Gothic</vt:lpstr>
      <vt:lpstr>Times New Roman</vt:lpstr>
      <vt:lpstr>Wingdings</vt:lpstr>
      <vt:lpstr>Wingdings 3</vt:lpstr>
      <vt:lpstr>Ion Boardroom</vt:lpstr>
      <vt:lpstr>Financial Loan Performance &amp; Risk Analysis</vt:lpstr>
      <vt:lpstr>Objective</vt:lpstr>
      <vt:lpstr>Tools Used</vt:lpstr>
      <vt:lpstr>Excel Dashboard</vt:lpstr>
      <vt:lpstr>Tableau Dashboard</vt:lpstr>
      <vt:lpstr>Power BI Dashboard</vt:lpstr>
      <vt:lpstr>KPI 1: Year-wise Loan Amount Stats</vt:lpstr>
      <vt:lpstr>KPI 2: Grade &amp; Sub-grade wise Revolving Balance</vt:lpstr>
      <vt:lpstr>KPI 3: Total Payment: Verified vs Non-Verified</vt:lpstr>
      <vt:lpstr>KPI 4: State-wise &amp; Month-wise Loan Status</vt:lpstr>
      <vt:lpstr>KPI 5: Home Ownership vs Last Payment</vt:lpstr>
      <vt:lpstr>Key Insights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User Defined Functions &amp; Window Functions</dc:title>
  <dc:creator>shehnaznikki7@gmail.com</dc:creator>
  <cp:lastModifiedBy>shehnaznikki7@gmail.com</cp:lastModifiedBy>
  <cp:revision>60</cp:revision>
  <dcterms:created xsi:type="dcterms:W3CDTF">2026-01-11T09:39:21Z</dcterms:created>
  <dcterms:modified xsi:type="dcterms:W3CDTF">2026-08-06T11:26:39Z</dcterms:modified>
</cp:coreProperties>
</file>