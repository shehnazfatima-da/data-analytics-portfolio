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18" r:id="rId1"/>
  </p:sldMasterIdLst>
  <p:sldIdLst>
    <p:sldId id="256" r:id="rId2"/>
    <p:sldId id="269" r:id="rId3"/>
    <p:sldId id="270" r:id="rId4"/>
    <p:sldId id="291" r:id="rId5"/>
    <p:sldId id="288" r:id="rId6"/>
    <p:sldId id="290" r:id="rId7"/>
    <p:sldId id="289" r:id="rId8"/>
    <p:sldId id="271" r:id="rId9"/>
    <p:sldId id="283" r:id="rId10"/>
    <p:sldId id="284" r:id="rId11"/>
    <p:sldId id="285" r:id="rId12"/>
    <p:sldId id="294" r:id="rId13"/>
    <p:sldId id="287" r:id="rId14"/>
    <p:sldId id="293" r:id="rId15"/>
    <p:sldId id="286" r:id="rId16"/>
    <p:sldId id="292" r:id="rId17"/>
    <p:sldId id="28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412" autoAdjust="0"/>
    <p:restoredTop sz="86434" autoAdjust="0"/>
  </p:normalViewPr>
  <p:slideViewPr>
    <p:cSldViewPr snapToGrid="0">
      <p:cViewPr varScale="1">
        <p:scale>
          <a:sx n="64" d="100"/>
          <a:sy n="64" d="100"/>
        </p:scale>
        <p:origin x="1616" y="48"/>
      </p:cViewPr>
      <p:guideLst/>
    </p:cSldViewPr>
  </p:slideViewPr>
  <p:outlineViewPr>
    <p:cViewPr>
      <p:scale>
        <a:sx n="33" d="100"/>
        <a:sy n="33" d="100"/>
      </p:scale>
      <p:origin x="0" y="-1082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6694ABA1-9609-4CD0-903D-13ABCC53DD8A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FCF62034-7AE4-4233-BFAF-66CAE2BD6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2999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ABA1-9609-4CD0-903D-13ABCC53DD8A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FCF62034-7AE4-4233-BFAF-66CAE2BD6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8081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ABA1-9609-4CD0-903D-13ABCC53DD8A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FCF62034-7AE4-4233-BFAF-66CAE2BD6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6393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ABA1-9609-4CD0-903D-13ABCC53DD8A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FCF62034-7AE4-4233-BFAF-66CAE2BD6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44610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ABA1-9609-4CD0-903D-13ABCC53DD8A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FCF62034-7AE4-4233-BFAF-66CAE2BD6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3827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ABA1-9609-4CD0-903D-13ABCC53DD8A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FCF62034-7AE4-4233-BFAF-66CAE2BD6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3193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ABA1-9609-4CD0-903D-13ABCC53DD8A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FCF62034-7AE4-4233-BFAF-66CAE2BD6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5350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ABA1-9609-4CD0-903D-13ABCC53DD8A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FCF62034-7AE4-4233-BFAF-66CAE2BD6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5921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ABA1-9609-4CD0-903D-13ABCC53DD8A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FCF62034-7AE4-4233-BFAF-66CAE2BD6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41962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ABA1-9609-4CD0-903D-13ABCC53DD8A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FCF62034-7AE4-4233-BFAF-66CAE2BD6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93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ABA1-9609-4CD0-903D-13ABCC53DD8A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FCF62034-7AE4-4233-BFAF-66CAE2BD6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01712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ABA1-9609-4CD0-903D-13ABCC53DD8A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FCF62034-7AE4-4233-BFAF-66CAE2BD6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79316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ABA1-9609-4CD0-903D-13ABCC53DD8A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FCF62034-7AE4-4233-BFAF-66CAE2BD6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06518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ABA1-9609-4CD0-903D-13ABCC53DD8A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FCF62034-7AE4-4233-BFAF-66CAE2BD6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63498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ABA1-9609-4CD0-903D-13ABCC53DD8A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FCF62034-7AE4-4233-BFAF-66CAE2BD6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43848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6694ABA1-9609-4CD0-903D-13ABCC53DD8A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FCF62034-7AE4-4233-BFAF-66CAE2BD6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12068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4ABA1-9609-4CD0-903D-13ABCC53DD8A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FCF62034-7AE4-4233-BFAF-66CAE2BD6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8674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6694ABA1-9609-4CD0-903D-13ABCC53DD8A}" type="datetimeFigureOut">
              <a:rPr lang="en-IN" smtClean="0"/>
              <a:t>06-08-2026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FCF62034-7AE4-4233-BFAF-66CAE2BD62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6428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19" r:id="rId1"/>
    <p:sldLayoutId id="2147484120" r:id="rId2"/>
    <p:sldLayoutId id="2147484121" r:id="rId3"/>
    <p:sldLayoutId id="2147484122" r:id="rId4"/>
    <p:sldLayoutId id="2147484123" r:id="rId5"/>
    <p:sldLayoutId id="2147484124" r:id="rId6"/>
    <p:sldLayoutId id="2147484125" r:id="rId7"/>
    <p:sldLayoutId id="2147484126" r:id="rId8"/>
    <p:sldLayoutId id="2147484127" r:id="rId9"/>
    <p:sldLayoutId id="2147484128" r:id="rId10"/>
    <p:sldLayoutId id="2147484129" r:id="rId11"/>
    <p:sldLayoutId id="2147484130" r:id="rId12"/>
    <p:sldLayoutId id="2147484131" r:id="rId13"/>
    <p:sldLayoutId id="2147484132" r:id="rId14"/>
    <p:sldLayoutId id="2147484133" r:id="rId15"/>
    <p:sldLayoutId id="2147484134" r:id="rId16"/>
    <p:sldLayoutId id="214748413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6A994-0CA5-CD09-B1EF-5F61374358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0833" y="1889836"/>
            <a:ext cx="5438322" cy="2120733"/>
          </a:xfrm>
        </p:spPr>
        <p:txBody>
          <a:bodyPr>
            <a:noAutofit/>
          </a:bodyPr>
          <a:lstStyle/>
          <a:p>
            <a:r>
              <a:rPr lang="en-US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Zomato Restaurant Analytics</a:t>
            </a:r>
            <a:endParaRPr lang="en-IN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D18CB2-A223-8720-0FAA-149FBBBFD7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90252" y="5367126"/>
            <a:ext cx="2087159" cy="9360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b="1" cap="none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resented</a:t>
            </a:r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</a:t>
            </a:r>
            <a:r>
              <a:rPr lang="en-US" b="1" cap="none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b="1" cap="none" dirty="0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en-US" b="1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b="1" cap="none" dirty="0" err="1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hehnaz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</a:t>
            </a:r>
            <a:r>
              <a:rPr lang="en-US" b="1" cap="none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atima</a:t>
            </a:r>
          </a:p>
        </p:txBody>
      </p:sp>
    </p:spTree>
    <p:extLst>
      <p:ext uri="{BB962C8B-B14F-4D97-AF65-F5344CB8AC3E}">
        <p14:creationId xmlns:p14="http://schemas.microsoft.com/office/powerpoint/2010/main" val="1359588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11C2C-1CBA-16CE-B45F-4BF400C08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062" y="717630"/>
            <a:ext cx="7219507" cy="1111170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6605469-AF9A-195E-783C-F62B66DA77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000" y="2360369"/>
            <a:ext cx="7740000" cy="386717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objective of this project is to analyze Zomato restaurant data and generate business insights by studying: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Restaurant distribution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ratings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Pricing patterns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Cuisine preferences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Online delivery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 booking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Restaurant opening trends</a:t>
            </a:r>
          </a:p>
        </p:txBody>
      </p:sp>
    </p:spTree>
    <p:extLst>
      <p:ext uri="{BB962C8B-B14F-4D97-AF65-F5344CB8AC3E}">
        <p14:creationId xmlns:p14="http://schemas.microsoft.com/office/powerpoint/2010/main" val="530125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11C2C-1CBA-16CE-B45F-4BF400C08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6605469-AF9A-195E-783C-F62B66DA77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89439" y="2223435"/>
            <a:ext cx="7440163" cy="384449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Excel: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Cleaning, Power Pivot Dashboard  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Tableau: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Interactive  Dashboard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BI: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Business Intelligence Dashboard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MySQL: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 &amp; SQL Analysis </a:t>
            </a:r>
          </a:p>
        </p:txBody>
      </p:sp>
    </p:spTree>
    <p:extLst>
      <p:ext uri="{BB962C8B-B14F-4D97-AF65-F5344CB8AC3E}">
        <p14:creationId xmlns:p14="http://schemas.microsoft.com/office/powerpoint/2010/main" val="1547668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11C2C-1CBA-16CE-B45F-4BF400C08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6605469-AF9A-195E-783C-F62B66DA77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79812" y="2223433"/>
            <a:ext cx="3636980" cy="36000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it-IT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contains</a:t>
            </a:r>
            <a:r>
              <a:rPr lang="it-IT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Restaurant Information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Ratings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 Cost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it-IT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Cuisines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Delivery Status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 Booking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Opening Dates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42D901-FD30-A9F4-DDC6-61FBEE2FCC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50206" y="2242682"/>
            <a:ext cx="3636980" cy="36000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size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9,551 Restaurants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 Countries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141 Cities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$ 5.05 Average Cost USD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2.9 Average Rating</a:t>
            </a:r>
          </a:p>
          <a:p>
            <a:pPr marL="402336" lvl="1" indent="0">
              <a:buNone/>
            </a:pP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8DE33D4-09EE-5DBF-6B02-2B74FBA2961D}"/>
              </a:ext>
            </a:extLst>
          </p:cNvPr>
          <p:cNvSpPr txBox="1">
            <a:spLocks/>
          </p:cNvSpPr>
          <p:nvPr/>
        </p:nvSpPr>
        <p:spPr>
          <a:xfrm>
            <a:off x="456792" y="5724902"/>
            <a:ext cx="7920000" cy="5040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6012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23444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50876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8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5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4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Country, Currency and Calendar tables were created to build a proper data model.</a:t>
            </a:r>
          </a:p>
        </p:txBody>
      </p:sp>
    </p:spTree>
    <p:extLst>
      <p:ext uri="{BB962C8B-B14F-4D97-AF65-F5344CB8AC3E}">
        <p14:creationId xmlns:p14="http://schemas.microsoft.com/office/powerpoint/2010/main" val="5425503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11C2C-1CBA-16CE-B45F-4BF400C08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383" y="717630"/>
            <a:ext cx="6917063" cy="1111170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 Dashboard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277EC3-A51D-B7C5-C01F-B4D6D389C3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000" y="2153162"/>
            <a:ext cx="8851560" cy="44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677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11C2C-1CBA-16CE-B45F-4BF400C08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383" y="717630"/>
            <a:ext cx="6917063" cy="1111170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Tableau Dashboard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42CB09-222F-6597-5337-85BADEF517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381" y="2165675"/>
            <a:ext cx="8705237" cy="442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2289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11C2C-1CBA-16CE-B45F-4BF400C08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383" y="717630"/>
            <a:ext cx="6917063" cy="1111170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BI Dashboard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10E7A7-1276-3A7C-0AAF-638DC7D4432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" t="882" r="496" b="1720"/>
          <a:stretch/>
        </p:blipFill>
        <p:spPr>
          <a:xfrm>
            <a:off x="470822" y="2146433"/>
            <a:ext cx="8202356" cy="453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6099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11C2C-1CBA-16CE-B45F-4BF400C08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305" y="717630"/>
            <a:ext cx="7263095" cy="1111170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Restaurant Distribution Analysis</a:t>
            </a:r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6605469-AF9A-195E-783C-F62B66DA77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805" y="2220655"/>
            <a:ext cx="7932695" cy="4276397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 Delhi has the highest restaurant concentration.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Restaurant business is concentrated in metro cities.</a:t>
            </a:r>
          </a:p>
          <a:p>
            <a:pPr marL="402336" lvl="1" indent="0">
              <a:buNone/>
            </a:pPr>
            <a:endParaRPr lang="en-US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Suggestion: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Expand into under-served cities.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 high-demand locations with fewer competitors.</a:t>
            </a:r>
          </a:p>
          <a:p>
            <a:pPr marL="402336" lvl="1" indent="0">
              <a:buNone/>
            </a:pPr>
            <a:endParaRPr lang="en-US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Metro cities dominate restaurant presence, but smaller cities offer growth opportunities.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E9FA35-8859-5D0A-9837-2390B8BDDF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41"/>
          <a:stretch/>
        </p:blipFill>
        <p:spPr>
          <a:xfrm>
            <a:off x="5534535" y="2152246"/>
            <a:ext cx="3505548" cy="23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6317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11C2C-1CBA-16CE-B45F-4BF400C08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649" y="717630"/>
            <a:ext cx="7626786" cy="1111170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Rating Analysis</a:t>
            </a:r>
            <a:endParaRPr lang="en-I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6605469-AF9A-195E-783C-F62B66DA77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33" y="2251513"/>
            <a:ext cx="7740000" cy="415891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 restaurants fall into the 3-4 rating category.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Only 1,380 restaurants have ratings &gt;=4.</a:t>
            </a:r>
          </a:p>
          <a:p>
            <a:pPr marL="402336" lvl="1" indent="0">
              <a:buNone/>
            </a:pPr>
            <a:endParaRPr lang="en-US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Suggestion: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 food quality &amp; customer service.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Encourage customer reviews.</a:t>
            </a:r>
          </a:p>
          <a:p>
            <a:pPr marL="402336" lvl="1" indent="0">
              <a:buNone/>
            </a:pPr>
            <a:endParaRPr lang="en-US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satisfaction is moderate and there is significant scope for quality improvement.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85351C-3762-7610-0698-DB671613F91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13" t="2769" r="988"/>
          <a:stretch/>
        </p:blipFill>
        <p:spPr>
          <a:xfrm>
            <a:off x="5457524" y="2329314"/>
            <a:ext cx="3436219" cy="2732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864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11C2C-1CBA-16CE-B45F-4BF400C08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681" y="717630"/>
            <a:ext cx="8297789" cy="1111170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Pricing Analysis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6605469-AF9A-195E-783C-F62B66DA77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340" y="2227312"/>
            <a:ext cx="7740000" cy="429861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Budget restaurants dominate.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Higher-rated restaurants generally charge higher prices.</a:t>
            </a:r>
          </a:p>
          <a:p>
            <a:pPr marL="402336" lvl="1" indent="0">
              <a:buNone/>
            </a:pPr>
            <a:endParaRPr lang="en-US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Suggestion: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Promote affordable restaurants.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Premium restaurants should emphasize quality and experience.</a:t>
            </a:r>
          </a:p>
          <a:p>
            <a:pPr marL="402336" lvl="1" indent="0">
              <a:buNone/>
            </a:pPr>
            <a:endParaRPr lang="en-US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Customers prefer affordable dining, </a:t>
            </a:r>
          </a:p>
          <a:p>
            <a:pPr marL="402336" lvl="1" indent="0"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   but premium pricing is justified by higher ratings.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95E174-34A7-53C4-D3FC-7B974F307E7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46"/>
          <a:stretch/>
        </p:blipFill>
        <p:spPr>
          <a:xfrm>
            <a:off x="5810488" y="2140086"/>
            <a:ext cx="3288526" cy="23392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F8D76FC-9A5C-CA32-4B49-90E2523AFF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8552" y="4566583"/>
            <a:ext cx="2640462" cy="216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1989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11C2C-1CBA-16CE-B45F-4BF400C08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831" y="717630"/>
            <a:ext cx="7616847" cy="1111170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Services Analysis</a:t>
            </a:r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6605469-AF9A-195E-783C-F62B66DA77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000" y="2225895"/>
            <a:ext cx="7740000" cy="4319283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Only 26% offer online delivery.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Only 12% offer table booking.</a:t>
            </a:r>
          </a:p>
          <a:p>
            <a:pPr marL="402336" lvl="1" indent="0">
              <a:buNone/>
            </a:pPr>
            <a:endParaRPr lang="en-US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Suggestion: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Increase delivery partnerships.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Encourage restaurants to enable reservations.</a:t>
            </a:r>
          </a:p>
          <a:p>
            <a:pPr marL="402336" lvl="1" indent="0">
              <a:buNone/>
            </a:pPr>
            <a:endParaRPr lang="en-US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 services remain underutilized and </a:t>
            </a:r>
          </a:p>
          <a:p>
            <a:pPr marL="402336" lvl="1" indent="0"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    present significant growth opportunities.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DF3E1F-7F30-3307-DB03-76871EA9B68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70"/>
          <a:stretch/>
        </p:blipFill>
        <p:spPr>
          <a:xfrm>
            <a:off x="6352674" y="2142123"/>
            <a:ext cx="2268000" cy="21945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8DE1955-D080-5B02-E4CF-A9BCD86C989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057"/>
          <a:stretch/>
        </p:blipFill>
        <p:spPr>
          <a:xfrm>
            <a:off x="6352674" y="4424757"/>
            <a:ext cx="2268000" cy="2194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2472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11C2C-1CBA-16CE-B45F-4BF400C08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062" y="717630"/>
            <a:ext cx="7219507" cy="1111170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Cuisine Analysis</a:t>
            </a:r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6605469-AF9A-195E-783C-F62B66DA77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723" y="2185267"/>
            <a:ext cx="7740000" cy="4359912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North Indian cuisine has the highest restaurant count.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Indian and Chinese cuisines dominate the top cuisine.</a:t>
            </a:r>
          </a:p>
          <a:p>
            <a:pPr marL="402336" lvl="1" indent="0">
              <a:buNone/>
            </a:pPr>
            <a:endParaRPr lang="en-US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Suggestion: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Strengthen partnerships with popular cuisine categories.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Promote multi-cuisine restaurants to attract more customers.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Expand high-demand cuisines into cities with lower restaurant presence.</a:t>
            </a:r>
          </a:p>
          <a:p>
            <a:pPr marL="402336" lvl="1" indent="0">
              <a:buNone/>
            </a:pPr>
            <a:endParaRPr lang="en-US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 demand is highest for North Indian and fusion cuisines, making them key focus areas for business growth.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6C65F1-91FF-AD64-BA49-6D60B6D4FC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4622" y="2146765"/>
            <a:ext cx="3052376" cy="23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7588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11C2C-1CBA-16CE-B45F-4BF400C08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062" y="717630"/>
            <a:ext cx="7219507" cy="1111170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Restaurant Opening Trend Analysis</a:t>
            </a:r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6605469-AF9A-195E-783C-F62B66DA77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6062" y="2192212"/>
            <a:ext cx="7740000" cy="4179712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Restaurant openings remain stable over the years.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Occasional spikes indicate periods of higher growth.</a:t>
            </a:r>
          </a:p>
          <a:p>
            <a:pPr marL="402336" lvl="1" indent="0">
              <a:buNone/>
            </a:pPr>
            <a:endParaRPr lang="en-US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Suggestion: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 factors behind peak growth periods.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 future expansions based on demand trends.</a:t>
            </a:r>
          </a:p>
          <a:p>
            <a:pPr marL="402336" lvl="1" indent="0">
              <a:buNone/>
            </a:pPr>
            <a:endParaRPr lang="en-US" sz="11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restaurant market shows consistent growth with periodic expansion opportunities.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44A6DE-0C3C-534D-D58B-9EFAFF5646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8634" y="2339491"/>
            <a:ext cx="3420000" cy="2351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7304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11C2C-1CBA-16CE-B45F-4BF400C08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555" y="717630"/>
            <a:ext cx="7020000" cy="900000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229EBA7-F0E5-97CB-E782-8CE6BD7239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4310365"/>
              </p:ext>
            </p:extLst>
          </p:nvPr>
        </p:nvGraphicFramePr>
        <p:xfrm>
          <a:off x="792000" y="2206578"/>
          <a:ext cx="7560000" cy="37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0000">
                  <a:extLst>
                    <a:ext uri="{9D8B030D-6E8A-4147-A177-3AD203B41FA5}">
                      <a16:colId xmlns:a16="http://schemas.microsoft.com/office/drawing/2014/main" val="3020772560"/>
                    </a:ext>
                  </a:extLst>
                </a:gridCol>
                <a:gridCol w="3780000">
                  <a:extLst>
                    <a:ext uri="{9D8B030D-6E8A-4147-A177-3AD203B41FA5}">
                      <a16:colId xmlns:a16="http://schemas.microsoft.com/office/drawing/2014/main" val="983031473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KPI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97795330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Restaurants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9,551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781998701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Countries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32338316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Cities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141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97180591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Average Rating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2.9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57132729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Average Cost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$ 5.05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2117864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 Rated Restaurants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301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23721130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Online Delivery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26%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05064362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Table Booking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12%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519735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118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11C2C-1CBA-16CE-B45F-4BF400C08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062" y="717630"/>
            <a:ext cx="7219507" cy="1111170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Business Recommendations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6605469-AF9A-195E-783C-F62B66DA77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000" y="2230443"/>
            <a:ext cx="7740000" cy="3563966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Expand into under-served cities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Increase online delivery adoption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Encourage table booking</a:t>
            </a:r>
          </a:p>
          <a:p>
            <a:pPr>
              <a:buFont typeface="Wingdings" panose="05000000000000000000" pitchFamily="2" charset="2"/>
              <a:buChar char="q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 restaurant ratings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Promote top-performing cuisines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Focus on affordable pricing</a:t>
            </a:r>
          </a:p>
          <a:p>
            <a:pPr>
              <a:buFont typeface="Wingdings" panose="05000000000000000000" pitchFamily="2" charset="2"/>
              <a:buChar char="q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customer feedback for service improvement </a:t>
            </a:r>
          </a:p>
        </p:txBody>
      </p:sp>
    </p:spTree>
    <p:extLst>
      <p:ext uri="{BB962C8B-B14F-4D97-AF65-F5344CB8AC3E}">
        <p14:creationId xmlns:p14="http://schemas.microsoft.com/office/powerpoint/2010/main" val="9467163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11C2C-1CBA-16CE-B45F-4BF400C08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062" y="717630"/>
            <a:ext cx="7219507" cy="1111170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6605469-AF9A-195E-783C-F62B66DA77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000" y="2355571"/>
            <a:ext cx="7740000" cy="3260035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End-to-end analytics using MySQL, Excel, Tableau &amp; Power BI.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Transformed raw data into meaningful business insights.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Analyzed ratings, pricing, cuisines, restaurant distribution, and services.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Enabled data-driven decision-making and identified growth opportunities.</a:t>
            </a:r>
          </a:p>
        </p:txBody>
      </p:sp>
    </p:spTree>
    <p:extLst>
      <p:ext uri="{BB962C8B-B14F-4D97-AF65-F5344CB8AC3E}">
        <p14:creationId xmlns:p14="http://schemas.microsoft.com/office/powerpoint/2010/main" val="6214713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CB6DC8-A069-0C2D-BF0E-4D34D7C1ED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6156" y="2955852"/>
            <a:ext cx="7822418" cy="1180214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8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80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52053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5719</TotalTime>
  <Words>543</Words>
  <Application>Microsoft Office PowerPoint</Application>
  <PresentationFormat>On-screen Show (4:3)</PresentationFormat>
  <Paragraphs>142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Century Gothic</vt:lpstr>
      <vt:lpstr>Times New Roman</vt:lpstr>
      <vt:lpstr>Wingdings</vt:lpstr>
      <vt:lpstr>Wingdings 3</vt:lpstr>
      <vt:lpstr>Ion Boardroom</vt:lpstr>
      <vt:lpstr>Zomato Restaurant Analytics</vt:lpstr>
      <vt:lpstr>OBJECTIVE</vt:lpstr>
      <vt:lpstr>Tools Used</vt:lpstr>
      <vt:lpstr>Dataset Overview</vt:lpstr>
      <vt:lpstr>Excel Dashboard</vt:lpstr>
      <vt:lpstr>Tableau Dashboard</vt:lpstr>
      <vt:lpstr>Power BI Dashboard</vt:lpstr>
      <vt:lpstr>Restaurant Distribution Analysis</vt:lpstr>
      <vt:lpstr>Customer Rating Analysis</vt:lpstr>
      <vt:lpstr>Pricing Analysis</vt:lpstr>
      <vt:lpstr>Customer Services Analysis</vt:lpstr>
      <vt:lpstr>Cuisine Analysis</vt:lpstr>
      <vt:lpstr>Restaurant Opening Trend Analysis</vt:lpstr>
      <vt:lpstr>KPI Summary</vt:lpstr>
      <vt:lpstr>Overall Business Recommendations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User Defined Functions &amp; Window Functions</dc:title>
  <dc:creator>shehnaznikki7@gmail.com</dc:creator>
  <cp:lastModifiedBy>shehnaznikki7@gmail.com</cp:lastModifiedBy>
  <cp:revision>99</cp:revision>
  <dcterms:created xsi:type="dcterms:W3CDTF">2026-01-11T09:39:21Z</dcterms:created>
  <dcterms:modified xsi:type="dcterms:W3CDTF">2026-08-06T11:52:05Z</dcterms:modified>
</cp:coreProperties>
</file>