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8" r:id="rId1"/>
  </p:sldMasterIdLst>
  <p:sldIdLst>
    <p:sldId id="256" r:id="rId2"/>
    <p:sldId id="269" r:id="rId3"/>
    <p:sldId id="270" r:id="rId4"/>
    <p:sldId id="291" r:id="rId5"/>
    <p:sldId id="288" r:id="rId6"/>
    <p:sldId id="290" r:id="rId7"/>
    <p:sldId id="289" r:id="rId8"/>
    <p:sldId id="271" r:id="rId9"/>
    <p:sldId id="283" r:id="rId10"/>
    <p:sldId id="284" r:id="rId11"/>
    <p:sldId id="285" r:id="rId12"/>
    <p:sldId id="294" r:id="rId13"/>
    <p:sldId id="287" r:id="rId14"/>
    <p:sldId id="293" r:id="rId15"/>
    <p:sldId id="286" r:id="rId16"/>
    <p:sldId id="292" r:id="rId17"/>
    <p:sldId id="28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86434" autoAdjust="0"/>
  </p:normalViewPr>
  <p:slideViewPr>
    <p:cSldViewPr snapToGrid="0">
      <p:cViewPr varScale="1">
        <p:scale>
          <a:sx n="78" d="100"/>
          <a:sy n="78" d="100"/>
        </p:scale>
        <p:origin x="1216" y="48"/>
      </p:cViewPr>
      <p:guideLst/>
    </p:cSldViewPr>
  </p:slideViewPr>
  <p:outlineViewPr>
    <p:cViewPr>
      <p:scale>
        <a:sx n="33" d="100"/>
        <a:sy n="33" d="100"/>
      </p:scale>
      <p:origin x="0" y="-108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99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8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9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46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8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5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92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19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93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171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931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5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49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384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206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67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42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  <p:sldLayoutId id="2147484130" r:id="rId12"/>
    <p:sldLayoutId id="2147484131" r:id="rId13"/>
    <p:sldLayoutId id="2147484132" r:id="rId14"/>
    <p:sldLayoutId id="2147484133" r:id="rId15"/>
    <p:sldLayoutId id="2147484134" r:id="rId16"/>
    <p:sldLayoutId id="21474841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A994-0CA5-CD09-B1EF-5F6137435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833" y="1889836"/>
            <a:ext cx="5438322" cy="2120733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Restaurant Analytics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18CB2-A223-8720-0FAA-149FBBBFD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252" y="5039139"/>
            <a:ext cx="2087159" cy="12901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resented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cap="none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cap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hehnaz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atima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roup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b="1" cap="none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8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60369"/>
            <a:ext cx="7740000" cy="38671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analyze Zomato restaurant data and generate business insights by studying: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patterns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 preferences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opening trends</a:t>
            </a:r>
          </a:p>
        </p:txBody>
      </p:sp>
    </p:spTree>
    <p:extLst>
      <p:ext uri="{BB962C8B-B14F-4D97-AF65-F5344CB8AC3E}">
        <p14:creationId xmlns:p14="http://schemas.microsoft.com/office/powerpoint/2010/main" val="53012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9439" y="2223435"/>
            <a:ext cx="7440163" cy="38444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Power Pivot Dashboard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 Dashboard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Dashboard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SQL Analysis </a:t>
            </a:r>
          </a:p>
        </p:txBody>
      </p:sp>
    </p:spTree>
    <p:extLst>
      <p:ext uri="{BB962C8B-B14F-4D97-AF65-F5344CB8AC3E}">
        <p14:creationId xmlns:p14="http://schemas.microsoft.com/office/powerpoint/2010/main" val="154766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9812" y="2223433"/>
            <a:ext cx="3636980" cy="360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Cost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Status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Dates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D901-FD30-A9F4-DDC6-61FBEE2FC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0206" y="2242682"/>
            <a:ext cx="3636980" cy="360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9,551 Restaurants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Countries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141 Cities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$ 5.05 Average Cost USD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2.9 Average Rating</a:t>
            </a:r>
          </a:p>
          <a:p>
            <a:pPr marL="402336" lvl="1" indent="0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DE33D4-09EE-5DBF-6B02-2B74FBA2961D}"/>
              </a:ext>
            </a:extLst>
          </p:cNvPr>
          <p:cNvSpPr txBox="1">
            <a:spLocks/>
          </p:cNvSpPr>
          <p:nvPr/>
        </p:nvSpPr>
        <p:spPr>
          <a:xfrm>
            <a:off x="456792" y="5724902"/>
            <a:ext cx="7920000" cy="504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Country, Currency and Calendar tables were created to build a proper data model.</a:t>
            </a:r>
          </a:p>
        </p:txBody>
      </p:sp>
    </p:spTree>
    <p:extLst>
      <p:ext uri="{BB962C8B-B14F-4D97-AF65-F5344CB8AC3E}">
        <p14:creationId xmlns:p14="http://schemas.microsoft.com/office/powerpoint/2010/main" val="54255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77EC3-A51D-B7C5-C01F-B4D6D389C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00" y="2153162"/>
            <a:ext cx="8851560" cy="44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2CB09-222F-6597-5337-85BADEF51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1" y="2165675"/>
            <a:ext cx="8705237" cy="44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2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0E7A7-1276-3A7C-0AAF-638DC7D443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" t="882" r="496" b="1720"/>
          <a:stretch/>
        </p:blipFill>
        <p:spPr>
          <a:xfrm>
            <a:off x="470822" y="2146433"/>
            <a:ext cx="8202356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0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05" y="717630"/>
            <a:ext cx="7263095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Distribution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05" y="2220655"/>
            <a:ext cx="7932695" cy="42763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Delhi has the highest restaurant concentration.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business is concentrated in metro cities.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into under-served cities.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high-demand locations with fewer competitors.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dominate restaurant presence, but smaller cities offer growth opportunities.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9FA35-8859-5D0A-9837-2390B8BDD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1"/>
          <a:stretch/>
        </p:blipFill>
        <p:spPr>
          <a:xfrm>
            <a:off x="5534535" y="2152246"/>
            <a:ext cx="3505548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31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49" y="717630"/>
            <a:ext cx="7626786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 Analysis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33" y="2251513"/>
            <a:ext cx="7740000" cy="41589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restaurants fall into the 3-4 rating category.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1,380 restaurants have ratings &gt;=4.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food quality &amp; customer service.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customer reviews.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is moderate and there is significant scope for quality improvement.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5351C-3762-7610-0698-DB671613F9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3" t="2769" r="988"/>
          <a:stretch/>
        </p:blipFill>
        <p:spPr>
          <a:xfrm>
            <a:off x="5457524" y="2329314"/>
            <a:ext cx="3436219" cy="273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81" y="717630"/>
            <a:ext cx="8297789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40" y="2227312"/>
            <a:ext cx="7740000" cy="42986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restaurants dominate.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Higher-rated restaurants generally charge higher prices.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affordable restaurants.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 restaurants should emphasize quality and experience.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prefer affordable dining, </a:t>
            </a:r>
          </a:p>
          <a:p>
            <a:pPr marL="402336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but premium pricing is justified by higher ratings.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5E174-34A7-53C4-D3FC-7B974F307E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6"/>
          <a:stretch/>
        </p:blipFill>
        <p:spPr>
          <a:xfrm>
            <a:off x="5810488" y="2140086"/>
            <a:ext cx="3288526" cy="2339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8D76FC-9A5C-CA32-4B49-90E2523AF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552" y="4566583"/>
            <a:ext cx="2640462" cy="216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8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1" y="717630"/>
            <a:ext cx="761684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Services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25895"/>
            <a:ext cx="7740000" cy="43192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26% offer online delivery.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12% offer table booking.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delivery partnerships.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restaurants to enable reservations.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services remain underutilized and </a:t>
            </a:r>
          </a:p>
          <a:p>
            <a:pPr marL="402336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present significant growth opportunities.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F3E1F-7F30-3307-DB03-76871EA9B6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0"/>
          <a:stretch/>
        </p:blipFill>
        <p:spPr>
          <a:xfrm>
            <a:off x="6352674" y="2142123"/>
            <a:ext cx="2268000" cy="2194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E1955-D080-5B02-E4CF-A9BCD86C98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57"/>
          <a:stretch/>
        </p:blipFill>
        <p:spPr>
          <a:xfrm>
            <a:off x="6352674" y="4424757"/>
            <a:ext cx="2268000" cy="219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4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23" y="2185267"/>
            <a:ext cx="7740000" cy="43599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Indian cuisine has the highest restaurant count.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and Chinese cuisines dominate the top cuisine.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partnerships with popular cuisine categories.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multi-cuisine restaurants to attract more customers.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high-demand cuisines into cities with lower restaurant presence.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demand is highest for North Indian and fusion cuisines, making them key focus areas for business growth.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6C65F1-91FF-AD64-BA49-6D60B6D4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622" y="2146765"/>
            <a:ext cx="3052376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5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Opening Trend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62" y="2192212"/>
            <a:ext cx="7740000" cy="41797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openings remain stable over the years.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Occasional spikes indicate periods of higher growth.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factors behind peak growth periods.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future expansions based on demand trends.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market shows consistent growth with periodic expansion opportunities.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4A6DE-0C3C-534D-D58B-9EFAFF56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634" y="2339491"/>
            <a:ext cx="3420000" cy="235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30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55" y="717630"/>
            <a:ext cx="7020000" cy="9000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29EBA7-F0E5-97CB-E782-8CE6BD723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310365"/>
              </p:ext>
            </p:extLst>
          </p:nvPr>
        </p:nvGraphicFramePr>
        <p:xfrm>
          <a:off x="792000" y="2206578"/>
          <a:ext cx="756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000">
                  <a:extLst>
                    <a:ext uri="{9D8B030D-6E8A-4147-A177-3AD203B41FA5}">
                      <a16:colId xmlns:a16="http://schemas.microsoft.com/office/drawing/2014/main" val="3020772560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98303147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779533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Restaurants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9,551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19987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Countries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233831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18059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Rating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7132729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$ 5.05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1786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Rated Restaurants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372113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Delivery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506436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Booking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1973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1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Recommendations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30443"/>
            <a:ext cx="7740000" cy="356396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into under-served cities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online delivery adoption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table booking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restaurant ratings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top-performing cuisines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affordable pricing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feedback for service improvement </a:t>
            </a:r>
          </a:p>
        </p:txBody>
      </p:sp>
    </p:spTree>
    <p:extLst>
      <p:ext uri="{BB962C8B-B14F-4D97-AF65-F5344CB8AC3E}">
        <p14:creationId xmlns:p14="http://schemas.microsoft.com/office/powerpoint/2010/main" val="946716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55571"/>
            <a:ext cx="7740000" cy="32600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analytics using MySQL, Excel, Tableau &amp; Power BI.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Transformed raw data into meaningful business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ratings, pricing, cuisines, restaurant distribution, and services.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data-driven decision-making and identified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62147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6DC8-A069-0C2D-BF0E-4D34D7C1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56" y="2955852"/>
            <a:ext cx="7822418" cy="118021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05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5719</TotalTime>
  <Words>545</Words>
  <Application>Microsoft Office PowerPoint</Application>
  <PresentationFormat>On-screen Show (4:3)</PresentationFormat>
  <Paragraphs>143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Times New Roman</vt:lpstr>
      <vt:lpstr>Wingdings</vt:lpstr>
      <vt:lpstr>Wingdings 3</vt:lpstr>
      <vt:lpstr>Ion Boardroom</vt:lpstr>
      <vt:lpstr>Zomato Restaurant Analytics</vt:lpstr>
      <vt:lpstr>OBJECTIVE</vt:lpstr>
      <vt:lpstr>Tools Used</vt:lpstr>
      <vt:lpstr>Dataset Overview</vt:lpstr>
      <vt:lpstr>Excel Dashboard</vt:lpstr>
      <vt:lpstr>Tableau Dashboard</vt:lpstr>
      <vt:lpstr>Power BI Dashboard</vt:lpstr>
      <vt:lpstr>Restaurant Distribution Analysis</vt:lpstr>
      <vt:lpstr>Customer Rating Analysis</vt:lpstr>
      <vt:lpstr>Pricing Analysis</vt:lpstr>
      <vt:lpstr>Customer Services Analysis</vt:lpstr>
      <vt:lpstr>Cuisine Analysis</vt:lpstr>
      <vt:lpstr>Restaurant Opening Trend Analysis</vt:lpstr>
      <vt:lpstr>KPI Summary</vt:lpstr>
      <vt:lpstr>Overall Business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Defined Functions &amp; Window Functions</dc:title>
  <dc:creator>shehnaznikki7@gmail.com</dc:creator>
  <cp:lastModifiedBy>shehnaznikki7@gmail.com</cp:lastModifiedBy>
  <cp:revision>98</cp:revision>
  <dcterms:created xsi:type="dcterms:W3CDTF">2026-01-11T09:39:21Z</dcterms:created>
  <dcterms:modified xsi:type="dcterms:W3CDTF">2026-08-05T15:29:16Z</dcterms:modified>
</cp:coreProperties>
</file>