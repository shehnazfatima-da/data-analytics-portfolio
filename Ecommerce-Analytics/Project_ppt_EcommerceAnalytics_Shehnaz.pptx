
<file path=[Content_Types].xml><?xml version="1.0" encoding="utf-8"?>
<Types xmlns="http://schemas.openxmlformats.org/package/2006/content-types">
  <Default Extension="jfif" ContentType="image/jpeg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929" r:id="rId1"/>
  </p:sldMasterIdLst>
  <p:sldIdLst>
    <p:sldId id="256" r:id="rId2"/>
    <p:sldId id="269" r:id="rId3"/>
    <p:sldId id="270" r:id="rId4"/>
    <p:sldId id="291" r:id="rId5"/>
    <p:sldId id="288" r:id="rId6"/>
    <p:sldId id="290" r:id="rId7"/>
    <p:sldId id="289" r:id="rId8"/>
    <p:sldId id="271" r:id="rId9"/>
    <p:sldId id="283" r:id="rId10"/>
    <p:sldId id="284" r:id="rId11"/>
    <p:sldId id="285" r:id="rId12"/>
    <p:sldId id="287" r:id="rId13"/>
    <p:sldId id="286" r:id="rId14"/>
    <p:sldId id="292" r:id="rId15"/>
    <p:sldId id="282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AF606853-7671-496A-8E4F-DF71F8EC918B}" styleName="Dark Style 1 - Accent 6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wholeTbl>
    <a:band1H>
      <a:tcStyle>
        <a:tcBdr/>
        <a:fill>
          <a:solidFill>
            <a:schemeClr val="accent6">
              <a:shade val="60000"/>
            </a:schemeClr>
          </a:solidFill>
        </a:fill>
      </a:tcStyle>
    </a:band1H>
    <a:band1V>
      <a:tcStyle>
        <a:tcBdr/>
        <a:fill>
          <a:solidFill>
            <a:schemeClr val="accent6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6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6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6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8412" autoAdjust="0"/>
    <p:restoredTop sz="86434" autoAdjust="0"/>
  </p:normalViewPr>
  <p:slideViewPr>
    <p:cSldViewPr snapToGrid="0">
      <p:cViewPr varScale="1">
        <p:scale>
          <a:sx n="64" d="100"/>
          <a:sy n="64" d="100"/>
        </p:scale>
        <p:origin x="1616" y="48"/>
      </p:cViewPr>
      <p:guideLst/>
    </p:cSldViewPr>
  </p:slideViewPr>
  <p:outlineViewPr>
    <p:cViewPr>
      <p:scale>
        <a:sx n="33" d="100"/>
        <a:sy n="33" d="100"/>
      </p:scale>
      <p:origin x="0" y="-10824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56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Oval 9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66440" y="2226503"/>
            <a:ext cx="5917679" cy="2550877"/>
          </a:xfrm>
        </p:spPr>
        <p:txBody>
          <a:bodyPr anchor="b"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6440" y="4777380"/>
            <a:ext cx="5917679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7498080" y="1828800"/>
            <a:ext cx="990599" cy="22865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6694ABA1-9609-4CD0-903D-13ABCC53DD8A}" type="datetimeFigureOut">
              <a:rPr lang="en-IN" smtClean="0"/>
              <a:t>05-08-2026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6236208" y="3264408"/>
            <a:ext cx="3859795" cy="228660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11" name="Rectangle 10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FCF62034-7AE4-4233-BFAF-66CAE2BD62E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155450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5970" y="927098"/>
            <a:ext cx="6343672" cy="709865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94ABA1-9609-4CD0-903D-13ABCC53DD8A}" type="datetimeFigureOut">
              <a:rPr lang="en-IN" smtClean="0"/>
              <a:t>05-08-2026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FCF62034-7AE4-4233-BFAF-66CAE2BD62E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423763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>
            <a:xfrm>
              <a:off x="5283673" y="402165"/>
              <a:ext cx="3465769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 bwMode="gray">
            <a:xfrm rot="16200000">
              <a:off x="3105027" y="1765596"/>
              <a:ext cx="5995993" cy="3326809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/>
            <p:nvPr/>
          </p:nvSpPr>
          <p:spPr bwMode="gray">
            <a:xfrm rot="15687606">
              <a:off x="3320102" y="145837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77534" y="2257588"/>
            <a:ext cx="3090672" cy="3020344"/>
          </a:xfrm>
        </p:spPr>
        <p:txBody>
          <a:bodyPr anchor="ctr"/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19261" y="2257588"/>
            <a:ext cx="3082516" cy="302034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94ABA1-9609-4CD0-903D-13ABCC53DD8A}" type="datetimeFigureOut">
              <a:rPr lang="en-IN" smtClean="0"/>
              <a:t>05-08-2026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Rectangle 7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FCF62034-7AE4-4233-BFAF-66CAE2BD62E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82671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66440" y="2489200"/>
            <a:ext cx="3636980" cy="353060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0581" y="2489203"/>
            <a:ext cx="3636980" cy="35306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94ABA1-9609-4CD0-903D-13ABCC53DD8A}" type="datetimeFigureOut">
              <a:rPr lang="en-IN" smtClean="0"/>
              <a:t>05-08-2026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FCF62034-7AE4-4233-BFAF-66CAE2BD62E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02354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9918" y="2489200"/>
            <a:ext cx="3633502" cy="75929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66440" y="3248490"/>
            <a:ext cx="3636980" cy="2771311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0581" y="2489200"/>
            <a:ext cx="3636979" cy="75663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0581" y="3245835"/>
            <a:ext cx="3636980" cy="277396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94ABA1-9609-4CD0-903D-13ABCC53DD8A}" type="datetimeFigureOut">
              <a:rPr lang="en-IN" smtClean="0"/>
              <a:t>05-08-2026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FCF62034-7AE4-4233-BFAF-66CAE2BD62E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719663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94ABA1-9609-4CD0-903D-13ABCC53DD8A}" type="datetimeFigureOut">
              <a:rPr lang="en-IN" smtClean="0"/>
              <a:t>05-08-2026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FCF62034-7AE4-4233-BFAF-66CAE2BD62E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223361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94ABA1-9609-4CD0-903D-13ABCC53DD8A}" type="datetimeFigureOut">
              <a:rPr lang="en-IN" smtClean="0"/>
              <a:t>05-08-2026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FCF62034-7AE4-4233-BFAF-66CAE2BD62E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609444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>
            <a:xfrm>
              <a:off x="5283673" y="402165"/>
              <a:ext cx="3465769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 bwMode="gray">
            <a:xfrm rot="16200000">
              <a:off x="2548536" y="1765596"/>
              <a:ext cx="5995993" cy="3326809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2" name="Freeform 5"/>
            <p:cNvSpPr/>
            <p:nvPr/>
          </p:nvSpPr>
          <p:spPr bwMode="gray">
            <a:xfrm rot="15687606">
              <a:off x="2769747" y="145837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1447800"/>
            <a:ext cx="2712590" cy="1495588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68927" y="1447800"/>
            <a:ext cx="3632850" cy="45720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866441" y="3086845"/>
            <a:ext cx="2712589" cy="2933701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94ABA1-9609-4CD0-903D-13ABCC53DD8A}" type="datetimeFigureOut">
              <a:rPr lang="en-IN" smtClean="0"/>
              <a:t>05-08-2026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Rectangle 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FCF62034-7AE4-4233-BFAF-66CAE2BD62E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590106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>
            <a:xfrm>
              <a:off x="5283673" y="402165"/>
              <a:ext cx="3465769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 bwMode="gray">
            <a:xfrm rot="16200000">
              <a:off x="2852610" y="1765596"/>
              <a:ext cx="5995993" cy="3326809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4" name="Freeform 5"/>
            <p:cNvSpPr/>
            <p:nvPr/>
          </p:nvSpPr>
          <p:spPr bwMode="gray">
            <a:xfrm rot="15687606">
              <a:off x="3074559" y="145837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1381390"/>
            <a:ext cx="2987089" cy="157480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722909" y="1320800"/>
            <a:ext cx="2791102" cy="42164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0" y="3086100"/>
            <a:ext cx="2987089" cy="24511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94ABA1-9609-4CD0-903D-13ABCC53DD8A}" type="datetimeFigureOut">
              <a:rPr lang="en-IN" smtClean="0"/>
              <a:t>05-08-2026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0" name="Rectangle 9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FCF62034-7AE4-4233-BFAF-66CAE2BD62E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51847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10204164">
              <a:off x="426788" y="4564241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6" name="Rectangle 15"/>
            <p:cNvSpPr/>
            <p:nvPr/>
          </p:nvSpPr>
          <p:spPr>
            <a:xfrm>
              <a:off x="421503" y="402165"/>
              <a:ext cx="8327939" cy="314113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 bwMode="gray">
            <a:xfrm rot="10800000">
              <a:off x="485023" y="2670079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0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4961454"/>
            <a:ext cx="6422004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66441" y="685800"/>
            <a:ext cx="6422004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866440" y="5528192"/>
            <a:ext cx="6422004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94ABA1-9609-4CD0-903D-13ABCC53DD8A}" type="datetimeFigureOut">
              <a:rPr lang="en-IN" smtClean="0"/>
              <a:t>05-08-2026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0" name="Rectangle 9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FCF62034-7AE4-4233-BFAF-66CAE2BD62E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495045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21010068">
              <a:off x="6359946" y="2780895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9" name="Rectangle 8"/>
            <p:cNvSpPr/>
            <p:nvPr/>
          </p:nvSpPr>
          <p:spPr>
            <a:xfrm>
              <a:off x="485023" y="4343399"/>
              <a:ext cx="8182128" cy="211243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 bwMode="gray">
            <a:xfrm>
              <a:off x="485023" y="2854646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927100"/>
            <a:ext cx="6422005" cy="1692720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0" y="3488023"/>
            <a:ext cx="6422005" cy="2536857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94ABA1-9609-4CD0-903D-13ABCC53DD8A}" type="datetimeFigureOut">
              <a:rPr lang="en-IN" smtClean="0"/>
              <a:t>05-08-2026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Rectangle 7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FCF62034-7AE4-4233-BFAF-66CAE2BD62E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899600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21010068">
              <a:off x="6359946" y="4309201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10"/>
            <p:cNvSpPr/>
            <p:nvPr/>
          </p:nvSpPr>
          <p:spPr bwMode="gray">
            <a:xfrm>
              <a:off x="485023" y="4381500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4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3" name="TextBox 22"/>
          <p:cNvSpPr txBox="1"/>
          <p:nvPr/>
        </p:nvSpPr>
        <p:spPr bwMode="gray">
          <a:xfrm>
            <a:off x="647430" y="651690"/>
            <a:ext cx="601591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80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 bwMode="gray">
          <a:xfrm>
            <a:off x="7069418" y="2900292"/>
            <a:ext cx="619063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80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8060" y="927099"/>
            <a:ext cx="6160385" cy="2882179"/>
          </a:xfrm>
        </p:spPr>
        <p:txBody>
          <a:bodyPr anchor="ctr"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387278" y="3809278"/>
            <a:ext cx="5646143" cy="333113"/>
          </a:xfrm>
        </p:spPr>
        <p:txBody>
          <a:bodyPr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0" y="5000816"/>
            <a:ext cx="6343673" cy="101061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94ABA1-9609-4CD0-903D-13ABCC53DD8A}" type="datetimeFigureOut">
              <a:rPr lang="en-IN" smtClean="0"/>
              <a:t>05-08-2026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Rectangle 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FCF62034-7AE4-4233-BFAF-66CAE2BD62E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0552479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0" name="Rectangle 9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Oval 10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Freeform 5"/>
            <p:cNvSpPr/>
            <p:nvPr/>
          </p:nvSpPr>
          <p:spPr bwMode="gray">
            <a:xfrm rot="21010068">
              <a:off x="6359946" y="431124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7"/>
            <p:cNvSpPr/>
            <p:nvPr/>
          </p:nvSpPr>
          <p:spPr bwMode="gray">
            <a:xfrm>
              <a:off x="485023" y="4381500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7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2057400"/>
            <a:ext cx="6422005" cy="20955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1" y="5024908"/>
            <a:ext cx="6422004" cy="994891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94ABA1-9609-4CD0-903D-13ABCC53DD8A}" type="datetimeFigureOut">
              <a:rPr lang="en-IN" smtClean="0"/>
              <a:t>05-08-2026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Rectangle 6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FCF62034-7AE4-4233-BFAF-66CAE2BD62E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4007729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927100"/>
            <a:ext cx="6423593" cy="709864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0" y="2489200"/>
            <a:ext cx="2313432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5"/>
          </p:nvPr>
        </p:nvSpPr>
        <p:spPr>
          <a:xfrm>
            <a:off x="866440" y="3147164"/>
            <a:ext cx="2313432" cy="2888366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05614" y="2489200"/>
            <a:ext cx="2318918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6"/>
          </p:nvPr>
        </p:nvSpPr>
        <p:spPr>
          <a:xfrm>
            <a:off x="3408471" y="3147164"/>
            <a:ext cx="2318918" cy="2888366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58642" y="2489200"/>
            <a:ext cx="2318918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7"/>
          </p:nvPr>
        </p:nvSpPr>
        <p:spPr>
          <a:xfrm>
            <a:off x="5960935" y="3147164"/>
            <a:ext cx="2316625" cy="2888366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294530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5849521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94ABA1-9609-4CD0-903D-13ABCC53DD8A}" type="datetimeFigureOut">
              <a:rPr lang="en-IN" smtClean="0"/>
              <a:t>05-08-2026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FCF62034-7AE4-4233-BFAF-66CAE2BD62E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8128555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927100"/>
            <a:ext cx="6345260" cy="709864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0" y="4179596"/>
            <a:ext cx="2313432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19055" y="2489200"/>
            <a:ext cx="2015144" cy="1447342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8"/>
          </p:nvPr>
        </p:nvSpPr>
        <p:spPr>
          <a:xfrm>
            <a:off x="866439" y="4837558"/>
            <a:ext cx="2313432" cy="1187321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11125" y="4179595"/>
            <a:ext cx="2318918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8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553189" y="2489200"/>
            <a:ext cx="2015144" cy="1447342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411125" y="4848208"/>
            <a:ext cx="2318918" cy="1187321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58642" y="4179596"/>
            <a:ext cx="2318918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6108641" y="2489200"/>
            <a:ext cx="2015144" cy="1447342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958642" y="4837558"/>
            <a:ext cx="2318918" cy="1187321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40" name="Straight Connector 39"/>
          <p:cNvCxnSpPr/>
          <p:nvPr/>
        </p:nvCxnSpPr>
        <p:spPr>
          <a:xfrm>
            <a:off x="3290019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/>
          <p:cNvCxnSpPr/>
          <p:nvPr/>
        </p:nvCxnSpPr>
        <p:spPr>
          <a:xfrm>
            <a:off x="5849521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94ABA1-9609-4CD0-903D-13ABCC53DD8A}" type="datetimeFigureOut">
              <a:rPr lang="en-IN" smtClean="0"/>
              <a:t>05-08-2026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FCF62034-7AE4-4233-BFAF-66CAE2BD62E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3574777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621301" y="6387910"/>
            <a:ext cx="990599" cy="228659"/>
          </a:xfrm>
        </p:spPr>
        <p:txBody>
          <a:bodyPr/>
          <a:lstStyle/>
          <a:p>
            <a:fld id="{6694ABA1-9609-4CD0-903D-13ABCC53DD8A}" type="datetimeFigureOut">
              <a:rPr lang="en-IN" smtClean="0"/>
              <a:t>05-08-2026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16133" y="6387910"/>
            <a:ext cx="3859795" cy="228660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FCF62034-7AE4-4233-BFAF-66CAE2BD62E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7413316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88" y="0"/>
            <a:ext cx="9120420" cy="6860798"/>
            <a:chOff x="-1588" y="0"/>
            <a:chExt cx="9120420" cy="6860798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Freeform 5"/>
            <p:cNvSpPr/>
            <p:nvPr/>
          </p:nvSpPr>
          <p:spPr bwMode="gray">
            <a:xfrm rot="4966650">
              <a:off x="4673046" y="5107506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</p:grpSp>
      <p:sp>
        <p:nvSpPr>
          <p:cNvPr id="17" name="Rectangle 16"/>
          <p:cNvSpPr/>
          <p:nvPr/>
        </p:nvSpPr>
        <p:spPr>
          <a:xfrm>
            <a:off x="414867" y="402165"/>
            <a:ext cx="4610565" cy="605367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Freeform 9"/>
          <p:cNvSpPr/>
          <p:nvPr/>
        </p:nvSpPr>
        <p:spPr bwMode="gray">
          <a:xfrm rot="5400000">
            <a:off x="1299309" y="1765596"/>
            <a:ext cx="5995993" cy="3326809"/>
          </a:xfrm>
          <a:custGeom>
            <a:avLst/>
            <a:gdLst/>
            <a:ahLst/>
            <a:cxnLst/>
            <a:rect l="0" t="0" r="r" b="b"/>
            <a:pathLst>
              <a:path w="4960" h="2752">
                <a:moveTo>
                  <a:pt x="0" y="0"/>
                </a:moveTo>
                <a:lnTo>
                  <a:pt x="0" y="324"/>
                </a:lnTo>
                <a:lnTo>
                  <a:pt x="0" y="1992"/>
                </a:lnTo>
                <a:lnTo>
                  <a:pt x="0" y="2752"/>
                </a:lnTo>
                <a:lnTo>
                  <a:pt x="4960" y="2752"/>
                </a:lnTo>
                <a:lnTo>
                  <a:pt x="4960" y="1992"/>
                </a:lnTo>
                <a:lnTo>
                  <a:pt x="4960" y="324"/>
                </a:lnTo>
                <a:lnTo>
                  <a:pt x="4960" y="0"/>
                </a:lnTo>
                <a:lnTo>
                  <a:pt x="4960" y="0"/>
                </a:lnTo>
                <a:lnTo>
                  <a:pt x="4734" y="34"/>
                </a:lnTo>
                <a:lnTo>
                  <a:pt x="4510" y="64"/>
                </a:lnTo>
                <a:lnTo>
                  <a:pt x="4284" y="90"/>
                </a:lnTo>
                <a:lnTo>
                  <a:pt x="4060" y="114"/>
                </a:lnTo>
                <a:lnTo>
                  <a:pt x="3836" y="132"/>
                </a:lnTo>
                <a:lnTo>
                  <a:pt x="3614" y="146"/>
                </a:lnTo>
                <a:lnTo>
                  <a:pt x="3392" y="158"/>
                </a:lnTo>
                <a:lnTo>
                  <a:pt x="3174" y="166"/>
                </a:lnTo>
                <a:lnTo>
                  <a:pt x="2960" y="172"/>
                </a:lnTo>
                <a:lnTo>
                  <a:pt x="2748" y="174"/>
                </a:lnTo>
                <a:lnTo>
                  <a:pt x="2542" y="174"/>
                </a:lnTo>
                <a:lnTo>
                  <a:pt x="2338" y="174"/>
                </a:lnTo>
                <a:lnTo>
                  <a:pt x="2140" y="170"/>
                </a:lnTo>
                <a:lnTo>
                  <a:pt x="1948" y="164"/>
                </a:lnTo>
                <a:lnTo>
                  <a:pt x="1762" y="156"/>
                </a:lnTo>
                <a:lnTo>
                  <a:pt x="1582" y="148"/>
                </a:lnTo>
                <a:lnTo>
                  <a:pt x="1410" y="138"/>
                </a:lnTo>
                <a:lnTo>
                  <a:pt x="1244" y="128"/>
                </a:lnTo>
                <a:lnTo>
                  <a:pt x="1088" y="116"/>
                </a:lnTo>
                <a:lnTo>
                  <a:pt x="938" y="104"/>
                </a:lnTo>
                <a:lnTo>
                  <a:pt x="668" y="78"/>
                </a:lnTo>
                <a:lnTo>
                  <a:pt x="438" y="54"/>
                </a:lnTo>
                <a:lnTo>
                  <a:pt x="254" y="34"/>
                </a:lnTo>
                <a:lnTo>
                  <a:pt x="116" y="16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</p:sp>
      <p:sp>
        <p:nvSpPr>
          <p:cNvPr id="18" name="Freeform 5"/>
          <p:cNvSpPr>
            <a:spLocks noEditPoints="1"/>
          </p:cNvSpPr>
          <p:nvPr/>
        </p:nvSpPr>
        <p:spPr bwMode="gray">
          <a:xfrm>
            <a:off x="0" y="0"/>
            <a:ext cx="9144000" cy="6858000"/>
          </a:xfrm>
          <a:custGeom>
            <a:avLst/>
            <a:gdLst/>
            <a:ahLst/>
            <a:cxnLst/>
            <a:rect l="0" t="0" r="r" b="b"/>
            <a:pathLst>
              <a:path w="5760" h="4320">
                <a:moveTo>
                  <a:pt x="0" y="0"/>
                </a:moveTo>
                <a:lnTo>
                  <a:pt x="0" y="4320"/>
                </a:lnTo>
                <a:lnTo>
                  <a:pt x="5760" y="4320"/>
                </a:lnTo>
                <a:lnTo>
                  <a:pt x="5760" y="0"/>
                </a:lnTo>
                <a:lnTo>
                  <a:pt x="0" y="0"/>
                </a:lnTo>
                <a:close/>
                <a:moveTo>
                  <a:pt x="5444" y="4004"/>
                </a:moveTo>
                <a:lnTo>
                  <a:pt x="324" y="4004"/>
                </a:lnTo>
                <a:lnTo>
                  <a:pt x="324" y="324"/>
                </a:lnTo>
                <a:lnTo>
                  <a:pt x="5444" y="324"/>
                </a:lnTo>
                <a:lnTo>
                  <a:pt x="5444" y="4004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174928" y="1447799"/>
            <a:ext cx="1113516" cy="4572001"/>
          </a:xfrm>
        </p:spPr>
        <p:txBody>
          <a:bodyPr vert="eaVert" anchor="ctr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66738" y="1447799"/>
            <a:ext cx="4416936" cy="45720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94ABA1-9609-4CD0-903D-13ABCC53DD8A}" type="datetimeFigureOut">
              <a:rPr lang="en-IN" smtClean="0"/>
              <a:t>05-08-2026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8546" y="6365498"/>
            <a:ext cx="3859795" cy="228660"/>
          </a:xfrm>
        </p:spPr>
        <p:txBody>
          <a:bodyPr/>
          <a:lstStyle/>
          <a:p>
            <a:endParaRPr lang="en-IN"/>
          </a:p>
        </p:txBody>
      </p:sp>
      <p:sp>
        <p:nvSpPr>
          <p:cNvPr id="9" name="Rectangle 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FCF62034-7AE4-4233-BFAF-66CAE2BD62E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643244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Freeform 5"/>
            <p:cNvSpPr/>
            <p:nvPr/>
          </p:nvSpPr>
          <p:spPr bwMode="gray">
            <a:xfrm rot="21010068">
              <a:off x="6359946" y="179029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25" name="Freeform 24"/>
            <p:cNvSpPr/>
            <p:nvPr/>
          </p:nvSpPr>
          <p:spPr bwMode="gray">
            <a:xfrm>
              <a:off x="485023" y="1856450"/>
              <a:ext cx="8173954" cy="4535226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866440" y="927099"/>
            <a:ext cx="6345260" cy="70986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4382" y="2489200"/>
            <a:ext cx="6345260" cy="3530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74443" y="6365498"/>
            <a:ext cx="990599" cy="22865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900" b="1" i="0">
                <a:solidFill>
                  <a:schemeClr val="accent1"/>
                </a:solidFill>
              </a:defRPr>
            </a:lvl1pPr>
          </a:lstStyle>
          <a:p>
            <a:fld id="{6694ABA1-9609-4CD0-903D-13ABCC53DD8A}" type="datetimeFigureOut">
              <a:rPr lang="en-IN" smtClean="0"/>
              <a:t>05-08-2026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90843" y="6365497"/>
            <a:ext cx="3859795" cy="2286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900" b="1" i="0">
                <a:solidFill>
                  <a:schemeClr val="accent1"/>
                </a:solidFill>
              </a:defRPr>
            </a:lvl1pPr>
          </a:lstStyle>
          <a:p>
            <a:endParaRPr lang="en-IN"/>
          </a:p>
        </p:txBody>
      </p:sp>
      <p:sp>
        <p:nvSpPr>
          <p:cNvPr id="26" name="Rectangle 25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8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>
                <a:solidFill>
                  <a:schemeClr val="bg1"/>
                </a:solidFill>
              </a:defRPr>
            </a:lvl1pPr>
          </a:lstStyle>
          <a:p>
            <a:fld id="{FCF62034-7AE4-4233-BFAF-66CAE2BD62E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714407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30" r:id="rId1"/>
    <p:sldLayoutId id="2147483931" r:id="rId2"/>
    <p:sldLayoutId id="2147483932" r:id="rId3"/>
    <p:sldLayoutId id="2147483933" r:id="rId4"/>
    <p:sldLayoutId id="2147483934" r:id="rId5"/>
    <p:sldLayoutId id="2147483935" r:id="rId6"/>
    <p:sldLayoutId id="2147483936" r:id="rId7"/>
    <p:sldLayoutId id="2147483937" r:id="rId8"/>
    <p:sldLayoutId id="2147483938" r:id="rId9"/>
    <p:sldLayoutId id="2147483939" r:id="rId10"/>
    <p:sldLayoutId id="2147483940" r:id="rId11"/>
    <p:sldLayoutId id="2147483941" r:id="rId12"/>
    <p:sldLayoutId id="2147483942" r:id="rId13"/>
    <p:sldLayoutId id="2147483943" r:id="rId14"/>
    <p:sldLayoutId id="2147483944" r:id="rId15"/>
    <p:sldLayoutId id="2147483945" r:id="rId16"/>
    <p:sldLayoutId id="2147483946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200" b="0" i="0" kern="1200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685800" indent="-283464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96012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23444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50876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8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0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225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24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fif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C6A994-0CA5-CD09-B1EF-5F613743585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30833" y="1889836"/>
            <a:ext cx="5438322" cy="2120733"/>
          </a:xfrm>
        </p:spPr>
        <p:txBody>
          <a:bodyPr>
            <a:noAutofit/>
          </a:bodyPr>
          <a:lstStyle/>
          <a:p>
            <a:r>
              <a:rPr lang="en-US" sz="6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OLIST STORE ANALYSIS</a:t>
            </a:r>
            <a:br>
              <a:rPr lang="en-US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E-Commerce Sales &amp; Customer Insights Analysis</a:t>
            </a:r>
            <a:endParaRPr lang="en-IN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97A161C-4D7D-B402-4801-99BD55EF07E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70829" y="534880"/>
            <a:ext cx="1846034" cy="1224000"/>
          </a:xfrm>
          <a:prstGeom prst="rect">
            <a:avLst/>
          </a:prstGeom>
        </p:spPr>
      </p:pic>
      <p:sp>
        <p:nvSpPr>
          <p:cNvPr id="7" name="Subtitle 2">
            <a:extLst>
              <a:ext uri="{FF2B5EF4-FFF2-40B4-BE49-F238E27FC236}">
                <a16:creationId xmlns:a16="http://schemas.microsoft.com/office/drawing/2014/main" id="{87AC29F8-8A3C-1AED-CE18-22CA2CFE8D59}"/>
              </a:ext>
            </a:extLst>
          </p:cNvPr>
          <p:cNvSpPr txBox="1">
            <a:spLocks/>
          </p:cNvSpPr>
          <p:nvPr/>
        </p:nvSpPr>
        <p:spPr>
          <a:xfrm>
            <a:off x="6490252" y="5039139"/>
            <a:ext cx="2087159" cy="129015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800" b="0" i="0" kern="1200" cap="all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600" b="0" i="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b="0" i="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b="0" i="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b="0" i="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b="0" i="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b="0" i="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b="0" i="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n-US" b="1" dirty="0">
                <a:solidFill>
                  <a:schemeClr val="accent5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b="1" cap="none" dirty="0">
                <a:solidFill>
                  <a:schemeClr val="accent5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resented</a:t>
            </a:r>
            <a:r>
              <a:rPr lang="en-US" b="1" dirty="0">
                <a:solidFill>
                  <a:schemeClr val="accent5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b</a:t>
            </a:r>
            <a:r>
              <a:rPr lang="en-US" b="1" cap="none" dirty="0">
                <a:solidFill>
                  <a:schemeClr val="accent5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b="1" dirty="0">
                <a:solidFill>
                  <a:schemeClr val="accent5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US" b="1" cap="none" dirty="0">
              <a:solidFill>
                <a:schemeClr val="accent5">
                  <a:lumMod val="60000"/>
                  <a:lumOff val="4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n-US" b="1" dirty="0" err="1"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b="1" cap="none" dirty="0" err="1"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hehnaz</a:t>
            </a:r>
            <a:r>
              <a:rPr lang="en-US" b="1" dirty="0"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F</a:t>
            </a:r>
            <a:r>
              <a:rPr lang="en-US" b="1" cap="none" dirty="0"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atima</a:t>
            </a: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n-US" b="1" dirty="0"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en-US" b="1" cap="none" dirty="0"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roup</a:t>
            </a:r>
            <a:r>
              <a:rPr lang="en-US" b="1" dirty="0"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3</a:t>
            </a:r>
            <a:endParaRPr lang="en-US" b="1" cap="none" dirty="0">
              <a:solidFill>
                <a:schemeClr val="bg1">
                  <a:lumMod val="9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595880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111C2C-1CBA-16CE-B45F-4BF400C08A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6062" y="717630"/>
            <a:ext cx="7219507" cy="1111170"/>
          </a:xfrm>
        </p:spPr>
        <p:txBody>
          <a:bodyPr/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E6605469-AF9A-195E-783C-F62B66DA77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2000" y="2360370"/>
            <a:ext cx="7740000" cy="3780000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Analyze customer purchasing behavior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Study payment trends and customer preferences 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Evaluate delivery performance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Understand customer satisfaction through review scores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Generate business insights using data analytics tools</a:t>
            </a:r>
          </a:p>
          <a:p>
            <a:pPr>
              <a:buFont typeface="Wingdings" panose="05000000000000000000" pitchFamily="2" charset="2"/>
              <a:buChar char="q"/>
            </a:pPr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301254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111C2C-1CBA-16CE-B45F-4BF400C08A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Tools Used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E6605469-AF9A-195E-783C-F62B66DA77B4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Excel: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Pivot tables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KPI dashboard creation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Basic visual analysis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MySQL: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Cleaning 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Querying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KPI Calculations</a:t>
            </a:r>
          </a:p>
          <a:p>
            <a:pPr>
              <a:buFont typeface="Wingdings" panose="05000000000000000000" pitchFamily="2" charset="2"/>
              <a:buChar char="q"/>
            </a:pPr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1A419D-FCAA-8199-8668-326B7860EA7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929809" y="2489203"/>
            <a:ext cx="3347752" cy="3530600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Tableau: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Interactive visualizations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Trend Analysis</a:t>
            </a:r>
          </a:p>
          <a:p>
            <a:pPr marL="402336" lvl="1" indent="0">
              <a:buNone/>
            </a:pPr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q"/>
            </a:pPr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Power BI: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Dynamic dashboard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Advanced Business Insights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Interactive filtering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476688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111C2C-1CBA-16CE-B45F-4BF400C08A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 Overview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E6605469-AF9A-195E-783C-F62B66DA77B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66440" y="2743199"/>
            <a:ext cx="3636980" cy="3657601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it-IT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Dataset Information contains</a:t>
            </a:r>
            <a:r>
              <a:rPr lang="it-IT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it-IT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Orders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it-IT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Customers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it-IT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Products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it-IT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Payments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Reviews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Sellers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Delivery Details</a:t>
            </a:r>
          </a:p>
          <a:p>
            <a:pPr>
              <a:buFont typeface="Wingdings" panose="05000000000000000000" pitchFamily="2" charset="2"/>
              <a:buChar char="q"/>
            </a:pPr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42D901-FD30-A9F4-DDC6-61FBEE2FCC1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0581" y="2743198"/>
            <a:ext cx="3636980" cy="3657601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Dataset size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lvl="1">
              <a:buFont typeface="Wingdings" panose="05000000000000000000" pitchFamily="2" charset="2"/>
              <a:buChar char="v"/>
            </a:pP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~ 112K Orders</a:t>
            </a:r>
          </a:p>
          <a:p>
            <a:pPr lvl="1">
              <a:buFont typeface="Wingdings" panose="05000000000000000000" pitchFamily="2" charset="2"/>
              <a:buChar char="v"/>
            </a:pP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Approximately 16M Brazilian Real Revenue</a:t>
            </a:r>
          </a:p>
          <a:p>
            <a:pPr lvl="1">
              <a:buFont typeface="Wingdings" panose="05000000000000000000" pitchFamily="2" charset="2"/>
              <a:buChar char="v"/>
            </a:pP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Around 99K Customers</a:t>
            </a:r>
          </a:p>
          <a:p>
            <a:pPr lvl="1">
              <a:buFont typeface="Wingdings" panose="05000000000000000000" pitchFamily="2" charset="2"/>
              <a:buChar char="v"/>
            </a:pP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Nearly 33K Products</a:t>
            </a:r>
          </a:p>
          <a:p>
            <a:pPr lvl="1">
              <a:buFont typeface="Wingdings" panose="05000000000000000000" pitchFamily="2" charset="2"/>
              <a:buChar char="v"/>
            </a:pP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More than 3K Sellers</a:t>
            </a:r>
          </a:p>
          <a:p>
            <a:pPr lvl="1">
              <a:buFont typeface="Wingdings" panose="05000000000000000000" pitchFamily="2" charset="2"/>
              <a:buChar char="v"/>
            </a:pP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4.09 Average Customer Rating</a:t>
            </a:r>
          </a:p>
        </p:txBody>
      </p:sp>
      <p:sp>
        <p:nvSpPr>
          <p:cNvPr id="4" name="Content Placeholder 12">
            <a:extLst>
              <a:ext uri="{FF2B5EF4-FFF2-40B4-BE49-F238E27FC236}">
                <a16:creationId xmlns:a16="http://schemas.microsoft.com/office/drawing/2014/main" id="{51471328-FE0F-691F-24A4-1A0A83488957}"/>
              </a:ext>
            </a:extLst>
          </p:cNvPr>
          <p:cNvSpPr txBox="1">
            <a:spLocks/>
          </p:cNvSpPr>
          <p:nvPr/>
        </p:nvSpPr>
        <p:spPr>
          <a:xfrm>
            <a:off x="866439" y="2181152"/>
            <a:ext cx="7742388" cy="46635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83464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6012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23444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50876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8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0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25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4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Char char="q"/>
            </a:pPr>
            <a:r>
              <a:rPr lang="it-IT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Brazilian E-Commerce Dataset by Olist</a:t>
            </a:r>
          </a:p>
        </p:txBody>
      </p:sp>
    </p:spTree>
    <p:extLst>
      <p:ext uri="{BB962C8B-B14F-4D97-AF65-F5344CB8AC3E}">
        <p14:creationId xmlns:p14="http://schemas.microsoft.com/office/powerpoint/2010/main" val="5425503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111C2C-1CBA-16CE-B45F-4BF400C08A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8383" y="717630"/>
            <a:ext cx="6917063" cy="1111170"/>
          </a:xfrm>
        </p:spPr>
        <p:txBody>
          <a:bodyPr/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Excel Dashboard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8A1F974-05DE-462A-633C-19DDC59E887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8322" y="2189398"/>
            <a:ext cx="8647355" cy="435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16777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111C2C-1CBA-16CE-B45F-4BF400C08A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8383" y="717630"/>
            <a:ext cx="6917063" cy="1111170"/>
          </a:xfrm>
        </p:spPr>
        <p:txBody>
          <a:bodyPr/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Tableau Dashboard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670910E-8F73-CFDD-CC65-D4DEDF5E3EB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8416" y="2174339"/>
            <a:ext cx="8627168" cy="453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922893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111C2C-1CBA-16CE-B45F-4BF400C08A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8383" y="717630"/>
            <a:ext cx="6917063" cy="1111170"/>
          </a:xfrm>
        </p:spPr>
        <p:txBody>
          <a:bodyPr/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Power BI Dashboard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17495A5-C2A1-702D-D608-F51B02F82DF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5676" y="2166729"/>
            <a:ext cx="8712648" cy="45653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060993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111C2C-1CBA-16CE-B45F-4BF400C08A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9305" y="717630"/>
            <a:ext cx="7263095" cy="1111170"/>
          </a:xfrm>
        </p:spPr>
        <p:txBody>
          <a:bodyPr/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KPI 1: </a:t>
            </a:r>
            <a:r>
              <a:rPr 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Weekday vs Weekend Payment Statistics</a:t>
            </a:r>
            <a:endParaRPr lang="en-IN" sz="3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E6605469-AF9A-195E-783C-F62B66DA77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9305" y="2220656"/>
            <a:ext cx="7932695" cy="3678898"/>
          </a:xfrm>
        </p:spPr>
        <p:txBody>
          <a:bodyPr>
            <a:noAutofit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Observation: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Weekdays contributed ~77% of total payments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Weekend sales contribution was lower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Business Suggestion: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Introduce weekend discounts and offers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Increase weekend marketing campaigns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Improve weekend customer engagement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7B82F769-352F-AACB-989E-AF93DD30FC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4430" y="2508755"/>
            <a:ext cx="3767633" cy="21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863176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111C2C-1CBA-16CE-B45F-4BF400C08A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6649" y="717630"/>
            <a:ext cx="7626786" cy="1111170"/>
          </a:xfrm>
        </p:spPr>
        <p:txBody>
          <a:bodyPr/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KPI 2:</a:t>
            </a: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5-Star Review Orders by Payment Type</a:t>
            </a:r>
            <a:endParaRPr lang="en-IN" sz="2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E6605469-AF9A-195E-783C-F62B66DA77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6808" y="2251513"/>
            <a:ext cx="7740000" cy="3780000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Observation: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Credit card payments had the highest number of 5-star reviews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Debit card and voucher had lower order counts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Business Suggestion: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Promote digital payment methods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Improve payment experience for other payments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Offer cashback or rewards on preferred modes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CE591D3-EC64-F562-9401-E7DAF46598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18781" y="2985412"/>
            <a:ext cx="3874908" cy="244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48644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111C2C-1CBA-16CE-B45F-4BF400C08A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2681" y="717630"/>
            <a:ext cx="8297789" cy="1111170"/>
          </a:xfrm>
        </p:spPr>
        <p:txBody>
          <a:bodyPr/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KPI 3: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Pet Shop vs Others Average Delivery Days</a:t>
            </a:r>
            <a:endParaRPr lang="en-I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E6605469-AF9A-195E-783C-F62B66DA77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9340" y="2227312"/>
            <a:ext cx="7740000" cy="3759831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Observation: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Pet shop products had slightly faster delivery times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Other categories took more delivery days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Business Suggestion: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Apply efficient logistics strategies to slower categories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Optimize warehouse and shipping operations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Improve delivery tracking systems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9622BBC-BB5D-F919-2C98-D6B54B1D9F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81909" y="2611359"/>
            <a:ext cx="3322280" cy="205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519898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111C2C-1CBA-16CE-B45F-4BF400C08A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6831" y="717630"/>
            <a:ext cx="7616847" cy="1111170"/>
          </a:xfrm>
        </p:spPr>
        <p:txBody>
          <a:bodyPr/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KPI 4:</a:t>
            </a:r>
            <a:r>
              <a:rPr 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Sao Paulo Customer Analysis</a:t>
            </a:r>
            <a:endParaRPr lang="en-IN" sz="3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E6605469-AF9A-195E-783C-F62B66DA77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2000" y="2225896"/>
            <a:ext cx="7740000" cy="3695936"/>
          </a:xfrm>
        </p:spPr>
        <p:txBody>
          <a:bodyPr>
            <a:noAutofit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Observation: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Average payment value was higher than average product price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Indicates freight charges and multi-item purchases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Business Suggestion: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Introduce loyalty programs for Sao Paulo customers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Provide bundled product offers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Improve customer retention strategies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F5C746F-0482-FC35-361D-EA7E8D8569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91536" y="2993864"/>
            <a:ext cx="3312000" cy="2203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324725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111C2C-1CBA-16CE-B45F-4BF400C08A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6062" y="717630"/>
            <a:ext cx="7219507" cy="1111170"/>
          </a:xfrm>
        </p:spPr>
        <p:txBody>
          <a:bodyPr/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KPI 5:</a:t>
            </a:r>
            <a:r>
              <a:rPr 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Shipping Days vs Review Scores</a:t>
            </a:r>
            <a:endParaRPr lang="en-IN" sz="3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E6605469-AF9A-195E-783C-F62B66DA77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9973" y="2413594"/>
            <a:ext cx="7740000" cy="3833105"/>
          </a:xfrm>
        </p:spPr>
        <p:txBody>
          <a:bodyPr>
            <a:noAutofit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Observation: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Faster deliveries received higher review scores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Delayed deliveries resulted in lower ratings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Business Suggestion: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Improve delivery efficiency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Reduce shipping delays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Focus on customer satisfaction through faster logistics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8646243-E501-6F0A-8C70-6FC79159D3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2456" y="2287466"/>
            <a:ext cx="3996000" cy="24734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373041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111C2C-1CBA-16CE-B45F-4BF400C08A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6062" y="717630"/>
            <a:ext cx="7219507" cy="1111170"/>
          </a:xfrm>
        </p:spPr>
        <p:txBody>
          <a:bodyPr/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Insights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E6605469-AF9A-195E-783C-F62B66DA77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2000" y="2355571"/>
            <a:ext cx="7740000" cy="3260035"/>
          </a:xfrm>
        </p:spPr>
        <p:txBody>
          <a:bodyPr>
            <a:noAutofit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Delivery performance impacts customer satisfaction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Credit card is the most preferred payment method 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Weekday sales are significantly higher than weekend sales 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Faster delivery improves customer ratings </a:t>
            </a:r>
          </a:p>
        </p:txBody>
      </p:sp>
    </p:spTree>
    <p:extLst>
      <p:ext uri="{BB962C8B-B14F-4D97-AF65-F5344CB8AC3E}">
        <p14:creationId xmlns:p14="http://schemas.microsoft.com/office/powerpoint/2010/main" val="94671639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111C2C-1CBA-16CE-B45F-4BF400C08A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6062" y="717630"/>
            <a:ext cx="7219507" cy="1111170"/>
          </a:xfrm>
        </p:spPr>
        <p:txBody>
          <a:bodyPr/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E6605469-AF9A-195E-783C-F62B66DA77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2000" y="2355571"/>
            <a:ext cx="7740000" cy="3260035"/>
          </a:xfrm>
        </p:spPr>
        <p:txBody>
          <a:bodyPr>
            <a:noAutofit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Data analytics helps identify customer behavior and sales trends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Interactive dashboards improve business decision-making 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Logistics and payment optimization can increase customer satisfaction </a:t>
            </a:r>
          </a:p>
        </p:txBody>
      </p:sp>
    </p:spTree>
    <p:extLst>
      <p:ext uri="{BB962C8B-B14F-4D97-AF65-F5344CB8AC3E}">
        <p14:creationId xmlns:p14="http://schemas.microsoft.com/office/powerpoint/2010/main" val="62147134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CB6DC8-A069-0C2D-BF0E-4D34D7C1ED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6156" y="2955852"/>
            <a:ext cx="7822418" cy="1180214"/>
          </a:xfrm>
        </p:spPr>
        <p:txBody>
          <a:bodyPr>
            <a:noAutofit/>
          </a:bodyPr>
          <a:lstStyle/>
          <a:p>
            <a:pPr marL="0" indent="0" algn="ctr">
              <a:buNone/>
            </a:pPr>
            <a:r>
              <a:rPr lang="en-US" sz="8000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  <a:endParaRPr lang="en-IN" sz="8000" b="1" dirty="0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05205350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 Boardroom">
  <a:themeElements>
    <a:clrScheme name="Ion Boardroom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 Boardroom</Template>
  <TotalTime>5175</TotalTime>
  <Words>397</Words>
  <Application>Microsoft Office PowerPoint</Application>
  <PresentationFormat>On-screen Show (4:3)</PresentationFormat>
  <Paragraphs>97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1" baseType="lpstr">
      <vt:lpstr>Arial</vt:lpstr>
      <vt:lpstr>Century Gothic</vt:lpstr>
      <vt:lpstr>Times New Roman</vt:lpstr>
      <vt:lpstr>Wingdings</vt:lpstr>
      <vt:lpstr>Wingdings 3</vt:lpstr>
      <vt:lpstr>Ion Boardroom</vt:lpstr>
      <vt:lpstr>OLIST STORE ANALYSIS E-Commerce Sales &amp; Customer Insights Analysis</vt:lpstr>
      <vt:lpstr>OBJECTIVE</vt:lpstr>
      <vt:lpstr>Tools Used</vt:lpstr>
      <vt:lpstr>Dataset Overview</vt:lpstr>
      <vt:lpstr>Excel Dashboard</vt:lpstr>
      <vt:lpstr>Tableau Dashboard</vt:lpstr>
      <vt:lpstr>Power BI Dashboard</vt:lpstr>
      <vt:lpstr>KPI 1: Weekday vs Weekend Payment Statistics</vt:lpstr>
      <vt:lpstr>KPI 2: 5-Star Review Orders by Payment Type</vt:lpstr>
      <vt:lpstr>KPI 3: Pet Shop vs Others Average Delivery Days</vt:lpstr>
      <vt:lpstr>KPI 4: Sao Paulo Customer Analysis</vt:lpstr>
      <vt:lpstr>KPI 5: Shipping Days vs Review Scores</vt:lpstr>
      <vt:lpstr>Key Insights</vt:lpstr>
      <vt:lpstr>Conclusion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User Defined Functions &amp; Window Functions</dc:title>
  <dc:creator>shehnaznikki7@gmail.com</dc:creator>
  <cp:lastModifiedBy>shehnaznikki7@gmail.com</cp:lastModifiedBy>
  <cp:revision>71</cp:revision>
  <dcterms:created xsi:type="dcterms:W3CDTF">2026-01-11T09:39:21Z</dcterms:created>
  <dcterms:modified xsi:type="dcterms:W3CDTF">2026-08-05T15:38:30Z</dcterms:modified>
</cp:coreProperties>
</file>